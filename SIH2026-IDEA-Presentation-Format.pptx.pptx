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8288000" cy="10287000"/>
  <p:notesSz cx="6858000" cy="9144000"/>
  <p:embeddedFontLst>
    <p:embeddedFont>
      <p:font typeface="Calibri (MS)" panose="020B0604020202020204" charset="0"/>
      <p:regular r:id="rId9"/>
    </p:embeddedFont>
    <p:embeddedFont>
      <p:font typeface="Garamond Bold" panose="02020804030307010803" pitchFamily="18" charset="0"/>
      <p:bold r:id="rId10"/>
    </p:embeddedFont>
    <p:embeddedFont>
      <p:font typeface="Times New Roman Bold" panose="02020803070505020304" pitchFamily="18" charset="0"/>
      <p:bold r:id="rId1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101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11.09.2026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13" Type="http://schemas.openxmlformats.org/officeDocument/2006/relationships/hyperlink" Target="https://github.com/pranavhere2007-jpg/cyclone-project" TargetMode="External"/><Relationship Id="rId3" Type="http://schemas.openxmlformats.org/officeDocument/2006/relationships/image" Target="../media/image3.jpeg"/><Relationship Id="rId7" Type="http://schemas.openxmlformats.org/officeDocument/2006/relationships/image" Target="../media/image7.svg"/><Relationship Id="rId12" Type="http://schemas.openxmlformats.org/officeDocument/2006/relationships/image" Target="../media/image12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svg"/><Relationship Id="rId11" Type="http://schemas.openxmlformats.org/officeDocument/2006/relationships/image" Target="../media/image11.svg"/><Relationship Id="rId5" Type="http://schemas.openxmlformats.org/officeDocument/2006/relationships/image" Target="../media/image5.svg"/><Relationship Id="rId10" Type="http://schemas.openxmlformats.org/officeDocument/2006/relationships/image" Target="../media/image10.svg"/><Relationship Id="rId4" Type="http://schemas.openxmlformats.org/officeDocument/2006/relationships/image" Target="../media/image4.png"/><Relationship Id="rId9" Type="http://schemas.openxmlformats.org/officeDocument/2006/relationships/image" Target="../media/image9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3.jpeg"/><Relationship Id="rId7" Type="http://schemas.openxmlformats.org/officeDocument/2006/relationships/image" Target="../media/image15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svg"/><Relationship Id="rId5" Type="http://schemas.openxmlformats.org/officeDocument/2006/relationships/image" Target="../media/image13.svg"/><Relationship Id="rId4" Type="http://schemas.openxmlformats.org/officeDocument/2006/relationships/image" Target="../media/image4.png"/><Relationship Id="rId9" Type="http://schemas.openxmlformats.org/officeDocument/2006/relationships/image" Target="../media/image17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image" Target="../media/image3.jpeg"/><Relationship Id="rId7" Type="http://schemas.openxmlformats.org/officeDocument/2006/relationships/image" Target="../media/image20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8.sv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svg"/><Relationship Id="rId3" Type="http://schemas.openxmlformats.org/officeDocument/2006/relationships/image" Target="../media/image3.jpeg"/><Relationship Id="rId7" Type="http://schemas.openxmlformats.org/officeDocument/2006/relationships/image" Target="../media/image24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svg"/><Relationship Id="rId5" Type="http://schemas.openxmlformats.org/officeDocument/2006/relationships/image" Target="../media/image22.sv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485165" y="1277283"/>
            <a:ext cx="6957908" cy="7732452"/>
          </a:xfrm>
          <a:custGeom>
            <a:avLst/>
            <a:gdLst/>
            <a:ahLst/>
            <a:cxnLst/>
            <a:rect l="l" t="t" r="r" b="b"/>
            <a:pathLst>
              <a:path w="6957908" h="7732452">
                <a:moveTo>
                  <a:pt x="0" y="0"/>
                </a:moveTo>
                <a:lnTo>
                  <a:pt x="6957908" y="0"/>
                </a:lnTo>
                <a:lnTo>
                  <a:pt x="6957908" y="7732453"/>
                </a:lnTo>
                <a:lnTo>
                  <a:pt x="0" y="773245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0282333" y="2573817"/>
            <a:ext cx="4805267" cy="5139357"/>
            <a:chOff x="0" y="0"/>
            <a:chExt cx="6407023" cy="685247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407023" cy="6852412"/>
            </a:xfrm>
            <a:custGeom>
              <a:avLst/>
              <a:gdLst/>
              <a:ahLst/>
              <a:cxnLst/>
              <a:rect l="l" t="t" r="r" b="b"/>
              <a:pathLst>
                <a:path w="6407023" h="6852412">
                  <a:moveTo>
                    <a:pt x="0" y="0"/>
                  </a:moveTo>
                  <a:lnTo>
                    <a:pt x="6407023" y="0"/>
                  </a:lnTo>
                  <a:lnTo>
                    <a:pt x="6407023" y="6852412"/>
                  </a:lnTo>
                  <a:lnTo>
                    <a:pt x="0" y="68524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149475" b="-1"/>
              </a:stretch>
            </a:blipFill>
          </p:spPr>
        </p:sp>
      </p:grpSp>
      <p:grpSp>
        <p:nvGrpSpPr>
          <p:cNvPr id="5" name="Group 5"/>
          <p:cNvGrpSpPr/>
          <p:nvPr/>
        </p:nvGrpSpPr>
        <p:grpSpPr>
          <a:xfrm>
            <a:off x="496929" y="-790137"/>
            <a:ext cx="15544800" cy="3114675"/>
            <a:chOff x="0" y="0"/>
            <a:chExt cx="20726400" cy="41529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0726400" cy="4152900"/>
            </a:xfrm>
            <a:custGeom>
              <a:avLst/>
              <a:gdLst/>
              <a:ahLst/>
              <a:cxnLst/>
              <a:rect l="l" t="t" r="r" b="b"/>
              <a:pathLst>
                <a:path w="20726400" h="4152900">
                  <a:moveTo>
                    <a:pt x="0" y="0"/>
                  </a:moveTo>
                  <a:lnTo>
                    <a:pt x="20726400" y="0"/>
                  </a:lnTo>
                  <a:lnTo>
                    <a:pt x="20726400" y="4152900"/>
                  </a:lnTo>
                  <a:lnTo>
                    <a:pt x="0" y="41529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47246" b="-47246"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-19050"/>
              <a:ext cx="20726400" cy="41719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7200"/>
                </a:lnSpc>
              </a:pPr>
              <a:r>
                <a:rPr lang="en-US" sz="6000" b="1">
                  <a:solidFill>
                    <a:srgbClr val="1F497D"/>
                  </a:solidFill>
                  <a:latin typeface="Garamond Bold"/>
                  <a:ea typeface="Garamond Bold"/>
                  <a:cs typeface="Garamond Bold"/>
                  <a:sym typeface="Garamond Bold"/>
                </a:rPr>
                <a:t>SMART INDIA HACKATHON 2026</a:t>
              </a:r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0" y="2483735"/>
            <a:ext cx="9991995" cy="64405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73521" lvl="1" indent="-286760" algn="l">
              <a:lnSpc>
                <a:spcPts val="6375"/>
              </a:lnSpc>
              <a:buFont typeface="Arial"/>
              <a:buChar char="•"/>
            </a:pPr>
            <a:r>
              <a:rPr lang="en-US" sz="2656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Problem Statement ID – 26070</a:t>
            </a:r>
          </a:p>
          <a:p>
            <a:pPr marL="573521" lvl="1" indent="-286760" algn="l">
              <a:lnSpc>
                <a:spcPts val="6375"/>
              </a:lnSpc>
              <a:buFont typeface="Arial"/>
              <a:buChar char="•"/>
            </a:pPr>
            <a:r>
              <a:rPr lang="en-US" sz="2656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Problem Statement Title- AI/ML Based System For Identification, Classification &amp; Prediction of Tropical Cyclone Patterns Using Multi-Source Satellite Data</a:t>
            </a:r>
          </a:p>
          <a:p>
            <a:pPr marL="573521" lvl="1" indent="-286760" algn="l">
              <a:lnSpc>
                <a:spcPts val="6375"/>
              </a:lnSpc>
              <a:buFont typeface="Arial"/>
              <a:buChar char="•"/>
            </a:pPr>
            <a:r>
              <a:rPr lang="en-US" sz="2656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Theme - Disaster Management</a:t>
            </a:r>
          </a:p>
          <a:p>
            <a:pPr marL="573521" lvl="1" indent="-286760" algn="l">
              <a:lnSpc>
                <a:spcPts val="6375"/>
              </a:lnSpc>
              <a:buFont typeface="Arial"/>
              <a:buChar char="•"/>
            </a:pPr>
            <a:r>
              <a:rPr lang="en-US" sz="2656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PS Category- Software</a:t>
            </a:r>
          </a:p>
          <a:p>
            <a:pPr marL="573521" lvl="1" indent="-286760" algn="l">
              <a:lnSpc>
                <a:spcPts val="6375"/>
              </a:lnSpc>
              <a:buFont typeface="Arial"/>
              <a:buChar char="•"/>
            </a:pPr>
            <a:r>
              <a:rPr lang="en-US" sz="2656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Team ID-</a:t>
            </a:r>
          </a:p>
          <a:p>
            <a:pPr marL="573521" lvl="1" indent="-286760" algn="l">
              <a:lnSpc>
                <a:spcPts val="6375"/>
              </a:lnSpc>
              <a:buFont typeface="Arial"/>
              <a:buChar char="•"/>
            </a:pPr>
            <a:r>
              <a:rPr lang="en-US" sz="2656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Team Name- </a:t>
            </a:r>
            <a:r>
              <a:rPr lang="en-US" sz="2656" b="1" dirty="0" err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rOYAl</a:t>
            </a:r>
            <a:endParaRPr lang="en-US" sz="2656" b="1" dirty="0">
              <a:solidFill>
                <a:srgbClr val="0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  <p:grpSp>
        <p:nvGrpSpPr>
          <p:cNvPr id="9" name="Group 9"/>
          <p:cNvGrpSpPr/>
          <p:nvPr/>
        </p:nvGrpSpPr>
        <p:grpSpPr>
          <a:xfrm>
            <a:off x="14670129" y="2248"/>
            <a:ext cx="3374774" cy="1593504"/>
            <a:chOff x="0" y="0"/>
            <a:chExt cx="4499699" cy="212467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4499737" cy="2124710"/>
            </a:xfrm>
            <a:custGeom>
              <a:avLst/>
              <a:gdLst/>
              <a:ahLst/>
              <a:cxnLst/>
              <a:rect l="l" t="t" r="r" b="b"/>
              <a:pathLst>
                <a:path w="4499737" h="2124710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b="1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532144"/>
            <a:ext cx="18288000" cy="754856"/>
            <a:chOff x="0" y="0"/>
            <a:chExt cx="24384000" cy="100647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006475"/>
            </a:xfrm>
            <a:custGeom>
              <a:avLst/>
              <a:gdLst/>
              <a:ahLst/>
              <a:cxnLst/>
              <a:rect l="l" t="t" r="r" b="b"/>
              <a:pathLst>
                <a:path w="24384000" h="1006475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274501" y="0"/>
            <a:ext cx="16459200" cy="1901168"/>
            <a:chOff x="0" y="0"/>
            <a:chExt cx="21945600" cy="253489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45600" cy="2534890"/>
            </a:xfrm>
            <a:custGeom>
              <a:avLst/>
              <a:gdLst/>
              <a:ahLst/>
              <a:cxnLst/>
              <a:rect l="l" t="t" r="r" b="b"/>
              <a:pathLst>
                <a:path w="21945600" h="2534890">
                  <a:moveTo>
                    <a:pt x="0" y="0"/>
                  </a:moveTo>
                  <a:lnTo>
                    <a:pt x="21945600" y="0"/>
                  </a:lnTo>
                  <a:lnTo>
                    <a:pt x="21945600" y="2534890"/>
                  </a:lnTo>
                  <a:lnTo>
                    <a:pt x="0" y="253489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3599" b="-113780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-28575"/>
              <a:ext cx="21945600" cy="25634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480"/>
                </a:lnSpc>
              </a:pPr>
              <a:endParaRPr/>
            </a:p>
            <a:p>
              <a:pPr algn="ctr">
                <a:lnSpc>
                  <a:spcPts val="6480"/>
                </a:lnSpc>
              </a:pPr>
              <a:r>
                <a:rPr lang="en-US" sz="5400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OYA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3106400" y="9534525"/>
            <a:ext cx="4267200" cy="547688"/>
            <a:chOff x="0" y="0"/>
            <a:chExt cx="5689600" cy="7302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689600" cy="730250"/>
            </a:xfrm>
            <a:custGeom>
              <a:avLst/>
              <a:gdLst/>
              <a:ahLst/>
              <a:cxnLst/>
              <a:rect l="l" t="t" r="r" b="b"/>
              <a:pathLst>
                <a:path w="5689600" h="73025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1813" b="-101813"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b="1">
                  <a:solidFill>
                    <a:srgbClr val="EEEEEE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2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972300" y="9534525"/>
            <a:ext cx="4806001" cy="547688"/>
            <a:chOff x="0" y="0"/>
            <a:chExt cx="6408001" cy="73025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408000" cy="730250"/>
            </a:xfrm>
            <a:custGeom>
              <a:avLst/>
              <a:gdLst/>
              <a:ahLst/>
              <a:cxnLst/>
              <a:rect l="l" t="t" r="r" b="b"/>
              <a:pathLst>
                <a:path w="6408000" h="73025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0982" b="-120982"/>
              </a:stretch>
            </a:blipFill>
          </p:spPr>
        </p:sp>
        <p:sp>
          <p:nvSpPr>
            <p:cNvPr id="12" name="TextBox 12"/>
            <p:cNvSpPr txBox="1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EEEEEE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@SIH Idea submission- Template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475612" y="359321"/>
            <a:ext cx="1915887" cy="1249101"/>
            <a:chOff x="0" y="0"/>
            <a:chExt cx="2554516" cy="1665468"/>
          </a:xfrm>
        </p:grpSpPr>
        <p:sp>
          <p:nvSpPr>
            <p:cNvPr id="14" name="Freeform 14" descr="Your startup LOGO"/>
            <p:cNvSpPr/>
            <p:nvPr/>
          </p:nvSpPr>
          <p:spPr>
            <a:xfrm>
              <a:off x="0" y="0"/>
              <a:ext cx="2554478" cy="1665481"/>
            </a:xfrm>
            <a:custGeom>
              <a:avLst/>
              <a:gdLst/>
              <a:ahLst/>
              <a:cxnLst/>
              <a:rect l="l" t="t" r="r" b="b"/>
              <a:pathLst>
                <a:path w="2554478" h="1665481">
                  <a:moveTo>
                    <a:pt x="0" y="832740"/>
                  </a:moveTo>
                  <a:cubicBezTo>
                    <a:pt x="0" y="372873"/>
                    <a:pt x="571881" y="0"/>
                    <a:pt x="1277239" y="0"/>
                  </a:cubicBezTo>
                  <a:cubicBezTo>
                    <a:pt x="1982597" y="0"/>
                    <a:pt x="2554478" y="372873"/>
                    <a:pt x="2554478" y="832740"/>
                  </a:cubicBezTo>
                  <a:cubicBezTo>
                    <a:pt x="2554478" y="1292608"/>
                    <a:pt x="1982597" y="1665481"/>
                    <a:pt x="1277239" y="1665481"/>
                  </a:cubicBezTo>
                  <a:cubicBezTo>
                    <a:pt x="571881" y="1665481"/>
                    <a:pt x="0" y="1292608"/>
                    <a:pt x="0" y="83274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0" y="-19050"/>
              <a:ext cx="2554516" cy="16845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22283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rOYAl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4670129" y="2248"/>
            <a:ext cx="3374774" cy="1593504"/>
            <a:chOff x="0" y="0"/>
            <a:chExt cx="4499699" cy="2124672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4499737" cy="2124710"/>
            </a:xfrm>
            <a:custGeom>
              <a:avLst/>
              <a:gdLst/>
              <a:ahLst/>
              <a:cxnLst/>
              <a:rect l="l" t="t" r="r" b="b"/>
              <a:pathLst>
                <a:path w="4499737" h="2124710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b="1"/>
              </a:stretch>
            </a:blipFill>
          </p:spPr>
        </p:sp>
      </p:grpSp>
      <p:sp>
        <p:nvSpPr>
          <p:cNvPr id="18" name="TextBox 18"/>
          <p:cNvSpPr txBox="1"/>
          <p:nvPr/>
        </p:nvSpPr>
        <p:spPr>
          <a:xfrm>
            <a:off x="465301" y="5829300"/>
            <a:ext cx="5807250" cy="438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799" b="1">
                <a:solidFill>
                  <a:srgbClr val="222831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WHAT MAKES THIS DIFFERENT</a:t>
            </a:r>
          </a:p>
        </p:txBody>
      </p:sp>
      <p:sp>
        <p:nvSpPr>
          <p:cNvPr id="19" name="AutoShape 19"/>
          <p:cNvSpPr/>
          <p:nvPr/>
        </p:nvSpPr>
        <p:spPr>
          <a:xfrm flipV="1">
            <a:off x="6372263" y="6057900"/>
            <a:ext cx="11915723" cy="875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0" name="AutoShape 20"/>
          <p:cNvSpPr/>
          <p:nvPr/>
        </p:nvSpPr>
        <p:spPr>
          <a:xfrm flipV="1">
            <a:off x="-11448665" y="6076950"/>
            <a:ext cx="11915723" cy="875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1" name="Freeform 21"/>
          <p:cNvSpPr/>
          <p:nvPr/>
        </p:nvSpPr>
        <p:spPr>
          <a:xfrm>
            <a:off x="205492" y="6267450"/>
            <a:ext cx="3200400" cy="3200400"/>
          </a:xfrm>
          <a:custGeom>
            <a:avLst/>
            <a:gdLst/>
            <a:ahLst/>
            <a:cxnLst/>
            <a:rect l="l" t="t" r="r" b="b"/>
            <a:pathLst>
              <a:path w="3200400" h="3200400">
                <a:moveTo>
                  <a:pt x="0" y="0"/>
                </a:moveTo>
                <a:lnTo>
                  <a:pt x="3200400" y="0"/>
                </a:lnTo>
                <a:lnTo>
                  <a:pt x="3200400" y="3200400"/>
                </a:lnTo>
                <a:lnTo>
                  <a:pt x="0" y="32004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22" name="Freeform 22"/>
          <p:cNvSpPr/>
          <p:nvPr/>
        </p:nvSpPr>
        <p:spPr>
          <a:xfrm>
            <a:off x="3903242" y="6267450"/>
            <a:ext cx="3200400" cy="3200400"/>
          </a:xfrm>
          <a:custGeom>
            <a:avLst/>
            <a:gdLst/>
            <a:ahLst/>
            <a:cxnLst/>
            <a:rect l="l" t="t" r="r" b="b"/>
            <a:pathLst>
              <a:path w="3200400" h="3200400">
                <a:moveTo>
                  <a:pt x="0" y="0"/>
                </a:moveTo>
                <a:lnTo>
                  <a:pt x="3200400" y="0"/>
                </a:lnTo>
                <a:lnTo>
                  <a:pt x="3200400" y="3200400"/>
                </a:lnTo>
                <a:lnTo>
                  <a:pt x="0" y="32004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23" name="Freeform 23"/>
          <p:cNvSpPr/>
          <p:nvPr/>
        </p:nvSpPr>
        <p:spPr>
          <a:xfrm>
            <a:off x="7544096" y="6269815"/>
            <a:ext cx="3198035" cy="3198035"/>
          </a:xfrm>
          <a:custGeom>
            <a:avLst/>
            <a:gdLst/>
            <a:ahLst/>
            <a:cxnLst/>
            <a:rect l="l" t="t" r="r" b="b"/>
            <a:pathLst>
              <a:path w="3198035" h="3198035">
                <a:moveTo>
                  <a:pt x="0" y="0"/>
                </a:moveTo>
                <a:lnTo>
                  <a:pt x="3198034" y="0"/>
                </a:lnTo>
                <a:lnTo>
                  <a:pt x="3198034" y="3198035"/>
                </a:lnTo>
                <a:lnTo>
                  <a:pt x="0" y="319803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24" name="Freeform 24"/>
          <p:cNvSpPr/>
          <p:nvPr/>
        </p:nvSpPr>
        <p:spPr>
          <a:xfrm>
            <a:off x="11187796" y="6267450"/>
            <a:ext cx="3200400" cy="3200400"/>
          </a:xfrm>
          <a:custGeom>
            <a:avLst/>
            <a:gdLst/>
            <a:ahLst/>
            <a:cxnLst/>
            <a:rect l="l" t="t" r="r" b="b"/>
            <a:pathLst>
              <a:path w="3200400" h="3200400">
                <a:moveTo>
                  <a:pt x="0" y="0"/>
                </a:moveTo>
                <a:lnTo>
                  <a:pt x="3200400" y="0"/>
                </a:lnTo>
                <a:lnTo>
                  <a:pt x="3200400" y="3200400"/>
                </a:lnTo>
                <a:lnTo>
                  <a:pt x="0" y="32004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25" name="Freeform 25"/>
          <p:cNvSpPr/>
          <p:nvPr/>
        </p:nvSpPr>
        <p:spPr>
          <a:xfrm>
            <a:off x="14884474" y="6269815"/>
            <a:ext cx="3198035" cy="3198035"/>
          </a:xfrm>
          <a:custGeom>
            <a:avLst/>
            <a:gdLst/>
            <a:ahLst/>
            <a:cxnLst/>
            <a:rect l="l" t="t" r="r" b="b"/>
            <a:pathLst>
              <a:path w="3198035" h="3198035">
                <a:moveTo>
                  <a:pt x="0" y="0"/>
                </a:moveTo>
                <a:lnTo>
                  <a:pt x="3198034" y="0"/>
                </a:lnTo>
                <a:lnTo>
                  <a:pt x="3198034" y="3198035"/>
                </a:lnTo>
                <a:lnTo>
                  <a:pt x="0" y="319803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grpSp>
        <p:nvGrpSpPr>
          <p:cNvPr id="26" name="Group 26"/>
          <p:cNvGrpSpPr/>
          <p:nvPr/>
        </p:nvGrpSpPr>
        <p:grpSpPr>
          <a:xfrm>
            <a:off x="16001099" y="6440008"/>
            <a:ext cx="968033" cy="968033"/>
            <a:chOff x="0" y="0"/>
            <a:chExt cx="812800" cy="81280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DA4FF"/>
            </a:solidFill>
          </p:spPr>
        </p:sp>
        <p:sp>
          <p:nvSpPr>
            <p:cNvPr id="28" name="TextBox 28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lIns="50900" tIns="50900" rIns="50900" bIns="50900" rtlCol="0" anchor="ctr"/>
            <a:lstStyle/>
            <a:p>
              <a:pPr algn="ctr">
                <a:lnSpc>
                  <a:spcPts val="2160"/>
                </a:lnSpc>
              </a:pPr>
              <a:endParaRPr/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8608484" y="6440008"/>
            <a:ext cx="968033" cy="968033"/>
            <a:chOff x="0" y="0"/>
            <a:chExt cx="812800" cy="81280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6FFFF"/>
            </a:solidFill>
          </p:spPr>
        </p:sp>
        <p:sp>
          <p:nvSpPr>
            <p:cNvPr id="31" name="TextBox 31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lIns="50900" tIns="50900" rIns="50900" bIns="50900" rtlCol="0" anchor="ctr"/>
            <a:lstStyle/>
            <a:p>
              <a:pPr algn="ctr">
                <a:lnSpc>
                  <a:spcPts val="2160"/>
                </a:lnSpc>
              </a:pPr>
              <a:endParaRPr/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1322306" y="6440008"/>
            <a:ext cx="968033" cy="968033"/>
            <a:chOff x="0" y="0"/>
            <a:chExt cx="812800" cy="81280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48F"/>
            </a:solidFill>
          </p:spPr>
        </p:sp>
        <p:sp>
          <p:nvSpPr>
            <p:cNvPr id="34" name="TextBox 34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lIns="50900" tIns="50900" rIns="50900" bIns="50900" rtlCol="0" anchor="ctr"/>
            <a:lstStyle/>
            <a:p>
              <a:pPr algn="ctr">
                <a:lnSpc>
                  <a:spcPts val="2160"/>
                </a:lnSpc>
              </a:pPr>
              <a:endParaRPr/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12258717" y="6440008"/>
            <a:ext cx="968033" cy="968033"/>
            <a:chOff x="0" y="0"/>
            <a:chExt cx="812800" cy="812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CFCF"/>
            </a:solidFill>
          </p:spPr>
        </p:sp>
        <p:sp>
          <p:nvSpPr>
            <p:cNvPr id="37" name="TextBox 37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lIns="50900" tIns="50900" rIns="50900" bIns="50900" rtlCol="0" anchor="ctr"/>
            <a:lstStyle/>
            <a:p>
              <a:pPr algn="ctr">
                <a:lnSpc>
                  <a:spcPts val="2160"/>
                </a:lnSpc>
              </a:pPr>
              <a:endParaRPr/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4962596" y="6440008"/>
            <a:ext cx="968033" cy="968033"/>
            <a:chOff x="0" y="0"/>
            <a:chExt cx="812800" cy="812800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8FF91"/>
            </a:solidFill>
          </p:spPr>
        </p:sp>
        <p:sp>
          <p:nvSpPr>
            <p:cNvPr id="40" name="TextBox 40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lIns="50900" tIns="50900" rIns="50900" bIns="50900" rtlCol="0" anchor="ctr"/>
            <a:lstStyle/>
            <a:p>
              <a:pPr algn="ctr">
                <a:lnSpc>
                  <a:spcPts val="2160"/>
                </a:lnSpc>
              </a:pPr>
              <a:endParaRPr/>
            </a:p>
          </p:txBody>
        </p:sp>
      </p:grpSp>
      <p:sp>
        <p:nvSpPr>
          <p:cNvPr id="41" name="TextBox 41"/>
          <p:cNvSpPr txBox="1"/>
          <p:nvPr/>
        </p:nvSpPr>
        <p:spPr>
          <a:xfrm>
            <a:off x="1500135" y="6584652"/>
            <a:ext cx="605890" cy="6596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88"/>
              </a:lnSpc>
              <a:spcBef>
                <a:spcPct val="0"/>
              </a:spcBef>
            </a:pPr>
            <a:r>
              <a:rPr lang="en-US" sz="4323" b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1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493085" y="7560780"/>
            <a:ext cx="2619989" cy="17369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29"/>
              </a:lnSpc>
            </a:pPr>
            <a:r>
              <a:rPr lang="en-US" sz="2274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Grad-CAM Explainability</a:t>
            </a:r>
          </a:p>
          <a:p>
            <a:pPr algn="ctr">
              <a:lnSpc>
                <a:spcPts val="2729"/>
              </a:lnSpc>
              <a:spcBef>
                <a:spcPct val="0"/>
              </a:spcBef>
            </a:pPr>
            <a:r>
              <a:rPr lang="en-US" sz="2274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Shows exactly why the model flagged a cyclone.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6182431" y="6584652"/>
            <a:ext cx="605890" cy="6775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88"/>
              </a:lnSpc>
              <a:spcBef>
                <a:spcPct val="0"/>
              </a:spcBef>
            </a:pPr>
            <a:r>
              <a:rPr lang="en-US" sz="4323" b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5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2428490" y="6584652"/>
            <a:ext cx="605890" cy="6596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88"/>
              </a:lnSpc>
              <a:spcBef>
                <a:spcPct val="0"/>
              </a:spcBef>
            </a:pPr>
            <a:r>
              <a:rPr lang="en-US" sz="4323" b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4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8789556" y="6546778"/>
            <a:ext cx="605890" cy="6775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88"/>
              </a:lnSpc>
              <a:spcBef>
                <a:spcPct val="0"/>
              </a:spcBef>
            </a:pPr>
            <a:r>
              <a:rPr lang="en-US" sz="4323" b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3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5143667" y="6584652"/>
            <a:ext cx="605890" cy="6775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88"/>
              </a:lnSpc>
              <a:spcBef>
                <a:spcPct val="0"/>
              </a:spcBef>
            </a:pPr>
            <a:r>
              <a:rPr lang="en-US" sz="4323" b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2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4193447" y="7560780"/>
            <a:ext cx="2619989" cy="13933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29"/>
              </a:lnSpc>
            </a:pPr>
            <a:r>
              <a:rPr lang="en-US" sz="2274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Rapid Scan Tasking</a:t>
            </a:r>
          </a:p>
          <a:p>
            <a:pPr algn="ctr">
              <a:lnSpc>
                <a:spcPts val="2729"/>
              </a:lnSpc>
              <a:spcBef>
                <a:spcPct val="0"/>
              </a:spcBef>
            </a:pPr>
            <a:r>
              <a:rPr lang="en-US" sz="2274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Requests focused imagery within real scan-cycle limits.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7833118" y="7520246"/>
            <a:ext cx="2619989" cy="17369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29"/>
              </a:lnSpc>
            </a:pPr>
            <a:r>
              <a:rPr lang="en-US" sz="2274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Location-Based</a:t>
            </a:r>
          </a:p>
          <a:p>
            <a:pPr algn="ctr">
              <a:lnSpc>
                <a:spcPts val="2729"/>
              </a:lnSpc>
            </a:pPr>
            <a:r>
              <a:rPr lang="en-US" sz="2274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Alerts</a:t>
            </a:r>
          </a:p>
          <a:p>
            <a:pPr algn="ctr">
              <a:lnSpc>
                <a:spcPts val="2729"/>
              </a:lnSpc>
              <a:spcBef>
                <a:spcPct val="0"/>
              </a:spcBef>
            </a:pPr>
            <a:r>
              <a:rPr lang="en-US" sz="2274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Personalises risk based on factors like distance and severity.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11483654" y="7487147"/>
            <a:ext cx="2619989" cy="17369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29"/>
              </a:lnSpc>
            </a:pPr>
            <a:r>
              <a:rPr lang="en-US" sz="2274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Historical Comparision</a:t>
            </a:r>
          </a:p>
          <a:p>
            <a:pPr algn="ctr">
              <a:lnSpc>
                <a:spcPts val="2729"/>
              </a:lnSpc>
              <a:spcBef>
                <a:spcPct val="0"/>
              </a:spcBef>
            </a:pPr>
            <a:r>
              <a:rPr lang="en-US" sz="2274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Matches to a similar past cyclone and source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15170788" y="7520246"/>
            <a:ext cx="2619989" cy="17369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29"/>
              </a:lnSpc>
            </a:pPr>
            <a:r>
              <a:rPr lang="en-US" sz="2274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Authority Risk Dashboard</a:t>
            </a:r>
          </a:p>
          <a:p>
            <a:pPr algn="ctr">
              <a:lnSpc>
                <a:spcPts val="2729"/>
              </a:lnSpc>
              <a:spcBef>
                <a:spcPct val="0"/>
              </a:spcBef>
            </a:pPr>
            <a:r>
              <a:rPr lang="en-US" sz="2274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Population risk and resource prioritisation view.</a:t>
            </a:r>
          </a:p>
        </p:txBody>
      </p:sp>
      <p:sp>
        <p:nvSpPr>
          <p:cNvPr id="51" name="Freeform 51"/>
          <p:cNvSpPr/>
          <p:nvPr/>
        </p:nvSpPr>
        <p:spPr>
          <a:xfrm>
            <a:off x="5556073" y="4116117"/>
            <a:ext cx="555352" cy="447059"/>
          </a:xfrm>
          <a:custGeom>
            <a:avLst/>
            <a:gdLst/>
            <a:ahLst/>
            <a:cxnLst/>
            <a:rect l="l" t="t" r="r" b="b"/>
            <a:pathLst>
              <a:path w="555352" h="447059">
                <a:moveTo>
                  <a:pt x="0" y="0"/>
                </a:moveTo>
                <a:lnTo>
                  <a:pt x="555352" y="0"/>
                </a:lnTo>
                <a:lnTo>
                  <a:pt x="555352" y="447058"/>
                </a:lnTo>
                <a:lnTo>
                  <a:pt x="0" y="4470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52" name="Freeform 52"/>
          <p:cNvSpPr/>
          <p:nvPr/>
        </p:nvSpPr>
        <p:spPr>
          <a:xfrm>
            <a:off x="8830954" y="4117334"/>
            <a:ext cx="553840" cy="445841"/>
          </a:xfrm>
          <a:custGeom>
            <a:avLst/>
            <a:gdLst/>
            <a:ahLst/>
            <a:cxnLst/>
            <a:rect l="l" t="t" r="r" b="b"/>
            <a:pathLst>
              <a:path w="553840" h="445841">
                <a:moveTo>
                  <a:pt x="0" y="0"/>
                </a:moveTo>
                <a:lnTo>
                  <a:pt x="553841" y="0"/>
                </a:lnTo>
                <a:lnTo>
                  <a:pt x="553841" y="445841"/>
                </a:lnTo>
                <a:lnTo>
                  <a:pt x="0" y="44584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53" name="Freeform 53"/>
          <p:cNvSpPr/>
          <p:nvPr/>
        </p:nvSpPr>
        <p:spPr>
          <a:xfrm>
            <a:off x="12117645" y="4117334"/>
            <a:ext cx="553840" cy="445841"/>
          </a:xfrm>
          <a:custGeom>
            <a:avLst/>
            <a:gdLst/>
            <a:ahLst/>
            <a:cxnLst/>
            <a:rect l="l" t="t" r="r" b="b"/>
            <a:pathLst>
              <a:path w="553840" h="445841">
                <a:moveTo>
                  <a:pt x="0" y="0"/>
                </a:moveTo>
                <a:lnTo>
                  <a:pt x="553840" y="0"/>
                </a:lnTo>
                <a:lnTo>
                  <a:pt x="553840" y="445841"/>
                </a:lnTo>
                <a:lnTo>
                  <a:pt x="0" y="44584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54" name="Freeform 54"/>
          <p:cNvSpPr/>
          <p:nvPr/>
        </p:nvSpPr>
        <p:spPr>
          <a:xfrm>
            <a:off x="12718110" y="3779158"/>
            <a:ext cx="2701149" cy="1120977"/>
          </a:xfrm>
          <a:custGeom>
            <a:avLst/>
            <a:gdLst/>
            <a:ahLst/>
            <a:cxnLst/>
            <a:rect l="l" t="t" r="r" b="b"/>
            <a:pathLst>
              <a:path w="2701149" h="1120977">
                <a:moveTo>
                  <a:pt x="0" y="0"/>
                </a:moveTo>
                <a:lnTo>
                  <a:pt x="2701149" y="0"/>
                </a:lnTo>
                <a:lnTo>
                  <a:pt x="2701149" y="1120977"/>
                </a:lnTo>
                <a:lnTo>
                  <a:pt x="0" y="112097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55" name="Freeform 55"/>
          <p:cNvSpPr/>
          <p:nvPr/>
        </p:nvSpPr>
        <p:spPr>
          <a:xfrm>
            <a:off x="6162686" y="3797019"/>
            <a:ext cx="2701149" cy="1120977"/>
          </a:xfrm>
          <a:custGeom>
            <a:avLst/>
            <a:gdLst/>
            <a:ahLst/>
            <a:cxnLst/>
            <a:rect l="l" t="t" r="r" b="b"/>
            <a:pathLst>
              <a:path w="2701149" h="1120977">
                <a:moveTo>
                  <a:pt x="0" y="0"/>
                </a:moveTo>
                <a:lnTo>
                  <a:pt x="2701150" y="0"/>
                </a:lnTo>
                <a:lnTo>
                  <a:pt x="2701150" y="1120977"/>
                </a:lnTo>
                <a:lnTo>
                  <a:pt x="0" y="112097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56" name="Freeform 56"/>
          <p:cNvSpPr/>
          <p:nvPr/>
        </p:nvSpPr>
        <p:spPr>
          <a:xfrm>
            <a:off x="9416496" y="3779158"/>
            <a:ext cx="2701149" cy="1120977"/>
          </a:xfrm>
          <a:custGeom>
            <a:avLst/>
            <a:gdLst/>
            <a:ahLst/>
            <a:cxnLst/>
            <a:rect l="l" t="t" r="r" b="b"/>
            <a:pathLst>
              <a:path w="2701149" h="1120977">
                <a:moveTo>
                  <a:pt x="0" y="0"/>
                </a:moveTo>
                <a:lnTo>
                  <a:pt x="2701149" y="0"/>
                </a:lnTo>
                <a:lnTo>
                  <a:pt x="2701149" y="1120977"/>
                </a:lnTo>
                <a:lnTo>
                  <a:pt x="0" y="112097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57" name="Freeform 57"/>
          <p:cNvSpPr/>
          <p:nvPr/>
        </p:nvSpPr>
        <p:spPr>
          <a:xfrm>
            <a:off x="2868741" y="3779134"/>
            <a:ext cx="2701149" cy="1120977"/>
          </a:xfrm>
          <a:custGeom>
            <a:avLst/>
            <a:gdLst/>
            <a:ahLst/>
            <a:cxnLst/>
            <a:rect l="l" t="t" r="r" b="b"/>
            <a:pathLst>
              <a:path w="2701149" h="1120977">
                <a:moveTo>
                  <a:pt x="0" y="0"/>
                </a:moveTo>
                <a:lnTo>
                  <a:pt x="2701149" y="0"/>
                </a:lnTo>
                <a:lnTo>
                  <a:pt x="2701149" y="1120977"/>
                </a:lnTo>
                <a:lnTo>
                  <a:pt x="0" y="112097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58" name="TextBox 58"/>
          <p:cNvSpPr txBox="1"/>
          <p:nvPr/>
        </p:nvSpPr>
        <p:spPr>
          <a:xfrm>
            <a:off x="12851412" y="3967331"/>
            <a:ext cx="2434546" cy="7288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53"/>
              </a:lnSpc>
              <a:spcBef>
                <a:spcPct val="0"/>
              </a:spcBef>
            </a:pPr>
            <a:r>
              <a:rPr lang="en-US" sz="237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Dashboard and Alerts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9450600" y="3950465"/>
            <a:ext cx="2632941" cy="7288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53"/>
              </a:lnSpc>
            </a:pPr>
            <a:r>
              <a:rPr lang="en-US" sz="2377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GRU</a:t>
            </a:r>
          </a:p>
          <a:p>
            <a:pPr algn="ctr">
              <a:lnSpc>
                <a:spcPts val="2853"/>
              </a:lnSpc>
              <a:spcBef>
                <a:spcPct val="0"/>
              </a:spcBef>
            </a:pPr>
            <a:r>
              <a:rPr lang="en-US" sz="2377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Track Prediction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6203451" y="3963971"/>
            <a:ext cx="2619620" cy="7288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53"/>
              </a:lnSpc>
            </a:pPr>
            <a:r>
              <a:rPr lang="en-US" sz="237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CNN</a:t>
            </a:r>
          </a:p>
          <a:p>
            <a:pPr algn="ctr">
              <a:lnSpc>
                <a:spcPts val="2853"/>
              </a:lnSpc>
              <a:spcBef>
                <a:spcPct val="0"/>
              </a:spcBef>
            </a:pPr>
            <a:r>
              <a:rPr lang="en-US" sz="237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Detect and classify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2903183" y="3787494"/>
            <a:ext cx="2611622" cy="10885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53"/>
              </a:lnSpc>
            </a:pPr>
            <a:r>
              <a:rPr lang="en-US" sz="2377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Multi-source</a:t>
            </a:r>
          </a:p>
          <a:p>
            <a:pPr algn="ctr">
              <a:lnSpc>
                <a:spcPts val="2853"/>
              </a:lnSpc>
              <a:spcBef>
                <a:spcPct val="0"/>
              </a:spcBef>
            </a:pPr>
            <a:r>
              <a:rPr lang="en-US" sz="2377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Satellite + Wind  Data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64815" y="1595942"/>
            <a:ext cx="18158371" cy="2009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34"/>
              </a:lnSpc>
            </a:pPr>
            <a:r>
              <a:rPr lang="en-US" sz="4779" b="1" u="sng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Proposed Solution</a:t>
            </a:r>
          </a:p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1.AI/ML system that detects, classifies (IMD scale), and predicts 6 to 24 hour cyclone track and intensity from multi-source satellite and wind data.</a:t>
            </a:r>
          </a:p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2.Built as a decision-support system for three users at once: IMD forecasters, NDMA/state authorities, and coastal citizens</a:t>
            </a:r>
            <a:r>
              <a:rPr lang="en-US" sz="2799">
                <a:solidFill>
                  <a:srgbClr val="00ADB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205492" y="5114925"/>
            <a:ext cx="5659189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39"/>
              </a:lnSpc>
              <a:spcBef>
                <a:spcPct val="0"/>
              </a:spcBef>
            </a:pPr>
            <a:r>
              <a:rPr lang="en-US" sz="31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PROTOTYPE : </a:t>
            </a:r>
            <a:r>
              <a:rPr lang="en-US" sz="3199" u="sng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13" tooltip="https://github.com/pranavhere2007-jpg/cyclone-project"/>
              </a:rPr>
              <a:t>GitHub Repositry</a:t>
            </a:r>
            <a:r>
              <a:rPr lang="en-US" sz="3199" b="1" u="sng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  <a:hlinkClick r:id="rId13" tooltip="https://github.com/pranavhere2007-jpg/cyclone-project"/>
              </a:rPr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532144"/>
            <a:ext cx="18288000" cy="754856"/>
            <a:chOff x="0" y="0"/>
            <a:chExt cx="24384000" cy="100647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006475"/>
            </a:xfrm>
            <a:custGeom>
              <a:avLst/>
              <a:gdLst/>
              <a:ahLst/>
              <a:cxnLst/>
              <a:rect l="l" t="t" r="r" b="b"/>
              <a:pathLst>
                <a:path w="24384000" h="1006475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6112007" y="1449017"/>
            <a:ext cx="6288194" cy="7446135"/>
            <a:chOff x="0" y="0"/>
            <a:chExt cx="1325300" cy="156934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325300" cy="1569347"/>
            </a:xfrm>
            <a:custGeom>
              <a:avLst/>
              <a:gdLst/>
              <a:ahLst/>
              <a:cxnLst/>
              <a:rect l="l" t="t" r="r" b="b"/>
              <a:pathLst>
                <a:path w="1325300" h="1569347">
                  <a:moveTo>
                    <a:pt x="24047" y="0"/>
                  </a:moveTo>
                  <a:lnTo>
                    <a:pt x="1301253" y="0"/>
                  </a:lnTo>
                  <a:cubicBezTo>
                    <a:pt x="1314534" y="0"/>
                    <a:pt x="1325300" y="10766"/>
                    <a:pt x="1325300" y="24047"/>
                  </a:cubicBezTo>
                  <a:lnTo>
                    <a:pt x="1325300" y="1545301"/>
                  </a:lnTo>
                  <a:cubicBezTo>
                    <a:pt x="1325300" y="1558581"/>
                    <a:pt x="1314534" y="1569347"/>
                    <a:pt x="1301253" y="1569347"/>
                  </a:cubicBezTo>
                  <a:lnTo>
                    <a:pt x="24047" y="1569347"/>
                  </a:lnTo>
                  <a:cubicBezTo>
                    <a:pt x="17669" y="1569347"/>
                    <a:pt x="11553" y="1566814"/>
                    <a:pt x="7043" y="1562304"/>
                  </a:cubicBezTo>
                  <a:cubicBezTo>
                    <a:pt x="2533" y="1557795"/>
                    <a:pt x="0" y="1551678"/>
                    <a:pt x="0" y="1545301"/>
                  </a:cubicBezTo>
                  <a:lnTo>
                    <a:pt x="0" y="24047"/>
                  </a:lnTo>
                  <a:cubicBezTo>
                    <a:pt x="0" y="10766"/>
                    <a:pt x="10766" y="0"/>
                    <a:pt x="24047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19050"/>
              <a:ext cx="1325300" cy="15883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800100" y="-85814"/>
            <a:ext cx="16459200" cy="1714500"/>
            <a:chOff x="0" y="0"/>
            <a:chExt cx="21945600" cy="22860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1945600" cy="2286000"/>
            </a:xfrm>
            <a:custGeom>
              <a:avLst/>
              <a:gdLst/>
              <a:ahLst/>
              <a:cxnLst/>
              <a:rect l="l" t="t" r="r" b="b"/>
              <a:pathLst>
                <a:path w="21945600" h="22860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7056" b="-137056"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480"/>
                </a:lnSpc>
              </a:pPr>
              <a:r>
                <a:rPr lang="en-US" sz="5400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TECHNICAL APPROACH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3106400" y="9534525"/>
            <a:ext cx="4267200" cy="547688"/>
            <a:chOff x="0" y="0"/>
            <a:chExt cx="5689600" cy="73025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5689600" cy="730250"/>
            </a:xfrm>
            <a:custGeom>
              <a:avLst/>
              <a:gdLst/>
              <a:ahLst/>
              <a:cxnLst/>
              <a:rect l="l" t="t" r="r" b="b"/>
              <a:pathLst>
                <a:path w="5689600" h="73025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1813" b="-101813"/>
              </a:stretch>
            </a:blipFill>
          </p:spPr>
        </p:sp>
        <p:sp>
          <p:nvSpPr>
            <p:cNvPr id="12" name="TextBox 12"/>
            <p:cNvSpPr txBox="1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3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6972300" y="9534525"/>
            <a:ext cx="4806001" cy="547688"/>
            <a:chOff x="0" y="0"/>
            <a:chExt cx="6408001" cy="73025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6408000" cy="730250"/>
            </a:xfrm>
            <a:custGeom>
              <a:avLst/>
              <a:gdLst/>
              <a:ahLst/>
              <a:cxnLst/>
              <a:rect l="l" t="t" r="r" b="b"/>
              <a:pathLst>
                <a:path w="6408000" h="73025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0982" b="-120982"/>
              </a:stretch>
            </a:blipFill>
          </p:spPr>
        </p:sp>
        <p:sp>
          <p:nvSpPr>
            <p:cNvPr id="15" name="TextBox 15"/>
            <p:cNvSpPr txBox="1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@SIH Idea submission- Template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475612" y="359321"/>
            <a:ext cx="1915887" cy="1249101"/>
            <a:chOff x="0" y="0"/>
            <a:chExt cx="2554516" cy="1665468"/>
          </a:xfrm>
        </p:grpSpPr>
        <p:sp>
          <p:nvSpPr>
            <p:cNvPr id="17" name="Freeform 17" descr="Your startup LOGO"/>
            <p:cNvSpPr/>
            <p:nvPr/>
          </p:nvSpPr>
          <p:spPr>
            <a:xfrm>
              <a:off x="0" y="0"/>
              <a:ext cx="2554478" cy="1665481"/>
            </a:xfrm>
            <a:custGeom>
              <a:avLst/>
              <a:gdLst/>
              <a:ahLst/>
              <a:cxnLst/>
              <a:rect l="l" t="t" r="r" b="b"/>
              <a:pathLst>
                <a:path w="2554478" h="1665481">
                  <a:moveTo>
                    <a:pt x="0" y="832740"/>
                  </a:moveTo>
                  <a:cubicBezTo>
                    <a:pt x="0" y="372873"/>
                    <a:pt x="571881" y="0"/>
                    <a:pt x="1277239" y="0"/>
                  </a:cubicBezTo>
                  <a:cubicBezTo>
                    <a:pt x="1982597" y="0"/>
                    <a:pt x="2554478" y="372873"/>
                    <a:pt x="2554478" y="832740"/>
                  </a:cubicBezTo>
                  <a:cubicBezTo>
                    <a:pt x="2554478" y="1292608"/>
                    <a:pt x="1982597" y="1665481"/>
                    <a:pt x="1277239" y="1665481"/>
                  </a:cubicBezTo>
                  <a:cubicBezTo>
                    <a:pt x="571881" y="1665481"/>
                    <a:pt x="0" y="1292608"/>
                    <a:pt x="0" y="83274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0" y="-57150"/>
              <a:ext cx="2554516" cy="17226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rOYAl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4670129" y="2248"/>
            <a:ext cx="3374774" cy="1593504"/>
            <a:chOff x="0" y="0"/>
            <a:chExt cx="4499699" cy="2124672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4499737" cy="2124710"/>
            </a:xfrm>
            <a:custGeom>
              <a:avLst/>
              <a:gdLst/>
              <a:ahLst/>
              <a:cxnLst/>
              <a:rect l="l" t="t" r="r" b="b"/>
              <a:pathLst>
                <a:path w="4499737" h="2124710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b="1"/>
              </a:stretch>
            </a:blipFill>
          </p:spPr>
        </p:sp>
      </p:grpSp>
      <p:grpSp>
        <p:nvGrpSpPr>
          <p:cNvPr id="21" name="Group 21"/>
          <p:cNvGrpSpPr/>
          <p:nvPr/>
        </p:nvGrpSpPr>
        <p:grpSpPr>
          <a:xfrm>
            <a:off x="6275049" y="1608420"/>
            <a:ext cx="5693659" cy="937571"/>
            <a:chOff x="0" y="0"/>
            <a:chExt cx="1251424" cy="206071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251424" cy="206071"/>
            </a:xfrm>
            <a:custGeom>
              <a:avLst/>
              <a:gdLst/>
              <a:ahLst/>
              <a:cxnLst/>
              <a:rect l="l" t="t" r="r" b="b"/>
              <a:pathLst>
                <a:path w="1251424" h="206071">
                  <a:moveTo>
                    <a:pt x="26558" y="0"/>
                  </a:moveTo>
                  <a:lnTo>
                    <a:pt x="1224867" y="0"/>
                  </a:lnTo>
                  <a:cubicBezTo>
                    <a:pt x="1239534" y="0"/>
                    <a:pt x="1251424" y="11890"/>
                    <a:pt x="1251424" y="26558"/>
                  </a:cubicBezTo>
                  <a:lnTo>
                    <a:pt x="1251424" y="179514"/>
                  </a:lnTo>
                  <a:cubicBezTo>
                    <a:pt x="1251424" y="194181"/>
                    <a:pt x="1239534" y="206071"/>
                    <a:pt x="1224867" y="206071"/>
                  </a:cubicBezTo>
                  <a:lnTo>
                    <a:pt x="26558" y="206071"/>
                  </a:lnTo>
                  <a:cubicBezTo>
                    <a:pt x="11890" y="206071"/>
                    <a:pt x="0" y="194181"/>
                    <a:pt x="0" y="179514"/>
                  </a:cubicBezTo>
                  <a:lnTo>
                    <a:pt x="0" y="26558"/>
                  </a:lnTo>
                  <a:cubicBezTo>
                    <a:pt x="0" y="11890"/>
                    <a:pt x="11890" y="0"/>
                    <a:pt x="26558" y="0"/>
                  </a:cubicBezTo>
                  <a:close/>
                </a:path>
              </a:pathLst>
            </a:custGeom>
            <a:solidFill>
              <a:srgbClr val="B6FFFF"/>
            </a:solidFill>
            <a:ln w="57150" cap="rnd">
              <a:solidFill>
                <a:srgbClr val="DCE6F2"/>
              </a:solidFill>
              <a:prstDash val="solid"/>
              <a:round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0" y="-19050"/>
              <a:ext cx="1251424" cy="2251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  <a:endParaRPr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6341467" y="3568706"/>
            <a:ext cx="5693659" cy="937571"/>
            <a:chOff x="0" y="0"/>
            <a:chExt cx="1251424" cy="206071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251424" cy="206071"/>
            </a:xfrm>
            <a:custGeom>
              <a:avLst/>
              <a:gdLst/>
              <a:ahLst/>
              <a:cxnLst/>
              <a:rect l="l" t="t" r="r" b="b"/>
              <a:pathLst>
                <a:path w="1251424" h="206071">
                  <a:moveTo>
                    <a:pt x="26558" y="0"/>
                  </a:moveTo>
                  <a:lnTo>
                    <a:pt x="1224867" y="0"/>
                  </a:lnTo>
                  <a:cubicBezTo>
                    <a:pt x="1239534" y="0"/>
                    <a:pt x="1251424" y="11890"/>
                    <a:pt x="1251424" y="26558"/>
                  </a:cubicBezTo>
                  <a:lnTo>
                    <a:pt x="1251424" y="179514"/>
                  </a:lnTo>
                  <a:cubicBezTo>
                    <a:pt x="1251424" y="194181"/>
                    <a:pt x="1239534" y="206071"/>
                    <a:pt x="1224867" y="206071"/>
                  </a:cubicBezTo>
                  <a:lnTo>
                    <a:pt x="26558" y="206071"/>
                  </a:lnTo>
                  <a:cubicBezTo>
                    <a:pt x="11890" y="206071"/>
                    <a:pt x="0" y="194181"/>
                    <a:pt x="0" y="179514"/>
                  </a:cubicBezTo>
                  <a:lnTo>
                    <a:pt x="0" y="26558"/>
                  </a:lnTo>
                  <a:cubicBezTo>
                    <a:pt x="0" y="11890"/>
                    <a:pt x="11890" y="0"/>
                    <a:pt x="26558" y="0"/>
                  </a:cubicBezTo>
                  <a:close/>
                </a:path>
              </a:pathLst>
            </a:custGeom>
            <a:solidFill>
              <a:srgbClr val="C8FF91"/>
            </a:solidFill>
            <a:ln w="57150" cap="rnd">
              <a:solidFill>
                <a:srgbClr val="EEEEEE"/>
              </a:solidFill>
              <a:prstDash val="solid"/>
              <a:round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0" y="-19050"/>
              <a:ext cx="1251424" cy="2251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  <a:endParaRPr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6275049" y="5432956"/>
            <a:ext cx="5693659" cy="937571"/>
            <a:chOff x="0" y="0"/>
            <a:chExt cx="1251424" cy="206071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251424" cy="206071"/>
            </a:xfrm>
            <a:custGeom>
              <a:avLst/>
              <a:gdLst/>
              <a:ahLst/>
              <a:cxnLst/>
              <a:rect l="l" t="t" r="r" b="b"/>
              <a:pathLst>
                <a:path w="1251424" h="206071">
                  <a:moveTo>
                    <a:pt x="26558" y="0"/>
                  </a:moveTo>
                  <a:lnTo>
                    <a:pt x="1224867" y="0"/>
                  </a:lnTo>
                  <a:cubicBezTo>
                    <a:pt x="1239534" y="0"/>
                    <a:pt x="1251424" y="11890"/>
                    <a:pt x="1251424" y="26558"/>
                  </a:cubicBezTo>
                  <a:lnTo>
                    <a:pt x="1251424" y="179514"/>
                  </a:lnTo>
                  <a:cubicBezTo>
                    <a:pt x="1251424" y="194181"/>
                    <a:pt x="1239534" y="206071"/>
                    <a:pt x="1224867" y="206071"/>
                  </a:cubicBezTo>
                  <a:lnTo>
                    <a:pt x="26558" y="206071"/>
                  </a:lnTo>
                  <a:cubicBezTo>
                    <a:pt x="11890" y="206071"/>
                    <a:pt x="0" y="194181"/>
                    <a:pt x="0" y="179514"/>
                  </a:cubicBezTo>
                  <a:lnTo>
                    <a:pt x="0" y="26558"/>
                  </a:lnTo>
                  <a:cubicBezTo>
                    <a:pt x="0" y="11890"/>
                    <a:pt x="11890" y="0"/>
                    <a:pt x="26558" y="0"/>
                  </a:cubicBezTo>
                  <a:close/>
                </a:path>
              </a:pathLst>
            </a:custGeom>
            <a:solidFill>
              <a:srgbClr val="FFCFCF"/>
            </a:solidFill>
            <a:ln w="57150" cap="rnd">
              <a:solidFill>
                <a:srgbClr val="EEEEEE"/>
              </a:solidFill>
              <a:prstDash val="solid"/>
              <a:round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0" y="-19050"/>
              <a:ext cx="1251424" cy="2251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  <a:endParaRPr/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6275049" y="7345224"/>
            <a:ext cx="5693659" cy="937571"/>
            <a:chOff x="0" y="0"/>
            <a:chExt cx="1251424" cy="206071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1251424" cy="206071"/>
            </a:xfrm>
            <a:custGeom>
              <a:avLst/>
              <a:gdLst/>
              <a:ahLst/>
              <a:cxnLst/>
              <a:rect l="l" t="t" r="r" b="b"/>
              <a:pathLst>
                <a:path w="1251424" h="206071">
                  <a:moveTo>
                    <a:pt x="26558" y="0"/>
                  </a:moveTo>
                  <a:lnTo>
                    <a:pt x="1224867" y="0"/>
                  </a:lnTo>
                  <a:cubicBezTo>
                    <a:pt x="1239534" y="0"/>
                    <a:pt x="1251424" y="11890"/>
                    <a:pt x="1251424" y="26558"/>
                  </a:cubicBezTo>
                  <a:lnTo>
                    <a:pt x="1251424" y="179514"/>
                  </a:lnTo>
                  <a:cubicBezTo>
                    <a:pt x="1251424" y="194181"/>
                    <a:pt x="1239534" y="206071"/>
                    <a:pt x="1224867" y="206071"/>
                  </a:cubicBezTo>
                  <a:lnTo>
                    <a:pt x="26558" y="206071"/>
                  </a:lnTo>
                  <a:cubicBezTo>
                    <a:pt x="11890" y="206071"/>
                    <a:pt x="0" y="194181"/>
                    <a:pt x="0" y="179514"/>
                  </a:cubicBezTo>
                  <a:lnTo>
                    <a:pt x="0" y="26558"/>
                  </a:lnTo>
                  <a:cubicBezTo>
                    <a:pt x="0" y="11890"/>
                    <a:pt x="11890" y="0"/>
                    <a:pt x="26558" y="0"/>
                  </a:cubicBezTo>
                  <a:close/>
                </a:path>
              </a:pathLst>
            </a:custGeom>
            <a:solidFill>
              <a:srgbClr val="EDA4FF"/>
            </a:solidFill>
            <a:ln w="57150" cap="rnd">
              <a:solidFill>
                <a:srgbClr val="EEEEEE"/>
              </a:solidFill>
              <a:prstDash val="solid"/>
              <a:round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0" y="-19050"/>
              <a:ext cx="1251424" cy="2251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  <a:endParaRPr/>
            </a:p>
          </p:txBody>
        </p:sp>
      </p:grpSp>
      <p:sp>
        <p:nvSpPr>
          <p:cNvPr id="33" name="AutoShape 33"/>
          <p:cNvSpPr/>
          <p:nvPr/>
        </p:nvSpPr>
        <p:spPr>
          <a:xfrm flipV="1">
            <a:off x="2992213" y="1868943"/>
            <a:ext cx="188648" cy="575876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34" name="Group 34"/>
          <p:cNvGrpSpPr/>
          <p:nvPr/>
        </p:nvGrpSpPr>
        <p:grpSpPr>
          <a:xfrm>
            <a:off x="215318" y="2126118"/>
            <a:ext cx="5553788" cy="5501593"/>
            <a:chOff x="0" y="0"/>
            <a:chExt cx="984005" cy="974757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984005" cy="974757"/>
            </a:xfrm>
            <a:custGeom>
              <a:avLst/>
              <a:gdLst/>
              <a:ahLst/>
              <a:cxnLst/>
              <a:rect l="l" t="t" r="r" b="b"/>
              <a:pathLst>
                <a:path w="984005" h="974757">
                  <a:moveTo>
                    <a:pt x="27226" y="0"/>
                  </a:moveTo>
                  <a:lnTo>
                    <a:pt x="956778" y="0"/>
                  </a:lnTo>
                  <a:cubicBezTo>
                    <a:pt x="963999" y="0"/>
                    <a:pt x="970924" y="2868"/>
                    <a:pt x="976030" y="7974"/>
                  </a:cubicBezTo>
                  <a:cubicBezTo>
                    <a:pt x="981136" y="13080"/>
                    <a:pt x="984005" y="20005"/>
                    <a:pt x="984005" y="27226"/>
                  </a:cubicBezTo>
                  <a:lnTo>
                    <a:pt x="984005" y="947531"/>
                  </a:lnTo>
                  <a:cubicBezTo>
                    <a:pt x="984005" y="954751"/>
                    <a:pt x="981136" y="961677"/>
                    <a:pt x="976030" y="966782"/>
                  </a:cubicBezTo>
                  <a:cubicBezTo>
                    <a:pt x="970924" y="971888"/>
                    <a:pt x="963999" y="974757"/>
                    <a:pt x="956778" y="974757"/>
                  </a:cubicBezTo>
                  <a:lnTo>
                    <a:pt x="27226" y="974757"/>
                  </a:lnTo>
                  <a:cubicBezTo>
                    <a:pt x="20005" y="974757"/>
                    <a:pt x="13080" y="971888"/>
                    <a:pt x="7974" y="966782"/>
                  </a:cubicBezTo>
                  <a:cubicBezTo>
                    <a:pt x="2868" y="961677"/>
                    <a:pt x="0" y="954751"/>
                    <a:pt x="0" y="947531"/>
                  </a:cubicBezTo>
                  <a:lnTo>
                    <a:pt x="0" y="27226"/>
                  </a:lnTo>
                  <a:cubicBezTo>
                    <a:pt x="0" y="20005"/>
                    <a:pt x="2868" y="13080"/>
                    <a:pt x="7974" y="7974"/>
                  </a:cubicBezTo>
                  <a:cubicBezTo>
                    <a:pt x="13080" y="2868"/>
                    <a:pt x="20005" y="0"/>
                    <a:pt x="27226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6" name="TextBox 36"/>
            <p:cNvSpPr txBox="1"/>
            <p:nvPr/>
          </p:nvSpPr>
          <p:spPr>
            <a:xfrm>
              <a:off x="0" y="-19050"/>
              <a:ext cx="984005" cy="9938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  <a:endParaRPr/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475612" y="2419198"/>
            <a:ext cx="4979284" cy="819935"/>
            <a:chOff x="0" y="0"/>
            <a:chExt cx="1251424" cy="206071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1251424" cy="206071"/>
            </a:xfrm>
            <a:custGeom>
              <a:avLst/>
              <a:gdLst/>
              <a:ahLst/>
              <a:cxnLst/>
              <a:rect l="l" t="t" r="r" b="b"/>
              <a:pathLst>
                <a:path w="1251424" h="206071">
                  <a:moveTo>
                    <a:pt x="30368" y="0"/>
                  </a:moveTo>
                  <a:lnTo>
                    <a:pt x="1221056" y="0"/>
                  </a:lnTo>
                  <a:cubicBezTo>
                    <a:pt x="1229110" y="0"/>
                    <a:pt x="1236834" y="3199"/>
                    <a:pt x="1242529" y="8894"/>
                  </a:cubicBezTo>
                  <a:cubicBezTo>
                    <a:pt x="1248225" y="14590"/>
                    <a:pt x="1251424" y="22314"/>
                    <a:pt x="1251424" y="30368"/>
                  </a:cubicBezTo>
                  <a:lnTo>
                    <a:pt x="1251424" y="175703"/>
                  </a:lnTo>
                  <a:cubicBezTo>
                    <a:pt x="1251424" y="192475"/>
                    <a:pt x="1237828" y="206071"/>
                    <a:pt x="1221056" y="206071"/>
                  </a:cubicBezTo>
                  <a:lnTo>
                    <a:pt x="30368" y="206071"/>
                  </a:lnTo>
                  <a:cubicBezTo>
                    <a:pt x="22314" y="206071"/>
                    <a:pt x="14590" y="202872"/>
                    <a:pt x="8894" y="197177"/>
                  </a:cubicBezTo>
                  <a:cubicBezTo>
                    <a:pt x="3199" y="191482"/>
                    <a:pt x="0" y="183757"/>
                    <a:pt x="0" y="175703"/>
                  </a:cubicBezTo>
                  <a:lnTo>
                    <a:pt x="0" y="30368"/>
                  </a:lnTo>
                  <a:cubicBezTo>
                    <a:pt x="0" y="22314"/>
                    <a:pt x="3199" y="14590"/>
                    <a:pt x="8894" y="8894"/>
                  </a:cubicBezTo>
                  <a:cubicBezTo>
                    <a:pt x="14590" y="3199"/>
                    <a:pt x="22314" y="0"/>
                    <a:pt x="30368" y="0"/>
                  </a:cubicBezTo>
                  <a:close/>
                </a:path>
              </a:pathLst>
            </a:custGeom>
            <a:solidFill>
              <a:srgbClr val="B6FFFF"/>
            </a:solidFill>
            <a:ln w="57150" cap="rnd">
              <a:solidFill>
                <a:srgbClr val="EEEEEE"/>
              </a:solidFill>
              <a:prstDash val="solid"/>
              <a:round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0" y="-19050"/>
              <a:ext cx="1251424" cy="2251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  <a:endParaRPr/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475612" y="3681569"/>
            <a:ext cx="4979284" cy="819935"/>
            <a:chOff x="0" y="0"/>
            <a:chExt cx="1251424" cy="206071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1251424" cy="206071"/>
            </a:xfrm>
            <a:custGeom>
              <a:avLst/>
              <a:gdLst/>
              <a:ahLst/>
              <a:cxnLst/>
              <a:rect l="l" t="t" r="r" b="b"/>
              <a:pathLst>
                <a:path w="1251424" h="206071">
                  <a:moveTo>
                    <a:pt x="30368" y="0"/>
                  </a:moveTo>
                  <a:lnTo>
                    <a:pt x="1221056" y="0"/>
                  </a:lnTo>
                  <a:cubicBezTo>
                    <a:pt x="1229110" y="0"/>
                    <a:pt x="1236834" y="3199"/>
                    <a:pt x="1242529" y="8894"/>
                  </a:cubicBezTo>
                  <a:cubicBezTo>
                    <a:pt x="1248225" y="14590"/>
                    <a:pt x="1251424" y="22314"/>
                    <a:pt x="1251424" y="30368"/>
                  </a:cubicBezTo>
                  <a:lnTo>
                    <a:pt x="1251424" y="175703"/>
                  </a:lnTo>
                  <a:cubicBezTo>
                    <a:pt x="1251424" y="192475"/>
                    <a:pt x="1237828" y="206071"/>
                    <a:pt x="1221056" y="206071"/>
                  </a:cubicBezTo>
                  <a:lnTo>
                    <a:pt x="30368" y="206071"/>
                  </a:lnTo>
                  <a:cubicBezTo>
                    <a:pt x="22314" y="206071"/>
                    <a:pt x="14590" y="202872"/>
                    <a:pt x="8894" y="197177"/>
                  </a:cubicBezTo>
                  <a:cubicBezTo>
                    <a:pt x="3199" y="191482"/>
                    <a:pt x="0" y="183757"/>
                    <a:pt x="0" y="175703"/>
                  </a:cubicBezTo>
                  <a:lnTo>
                    <a:pt x="0" y="30368"/>
                  </a:lnTo>
                  <a:cubicBezTo>
                    <a:pt x="0" y="22314"/>
                    <a:pt x="3199" y="14590"/>
                    <a:pt x="8894" y="8894"/>
                  </a:cubicBezTo>
                  <a:cubicBezTo>
                    <a:pt x="14590" y="3199"/>
                    <a:pt x="22314" y="0"/>
                    <a:pt x="30368" y="0"/>
                  </a:cubicBezTo>
                  <a:close/>
                </a:path>
              </a:pathLst>
            </a:custGeom>
            <a:solidFill>
              <a:srgbClr val="C8FF91"/>
            </a:solidFill>
            <a:ln w="57150" cap="rnd">
              <a:solidFill>
                <a:srgbClr val="EEEEEE"/>
              </a:solidFill>
              <a:prstDash val="solid"/>
              <a:round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0" y="-19050"/>
              <a:ext cx="1251424" cy="2251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  <a:endParaRPr/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475612" y="4943940"/>
            <a:ext cx="4979284" cy="819935"/>
            <a:chOff x="0" y="0"/>
            <a:chExt cx="1251424" cy="206071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1251424" cy="206071"/>
            </a:xfrm>
            <a:custGeom>
              <a:avLst/>
              <a:gdLst/>
              <a:ahLst/>
              <a:cxnLst/>
              <a:rect l="l" t="t" r="r" b="b"/>
              <a:pathLst>
                <a:path w="1251424" h="206071">
                  <a:moveTo>
                    <a:pt x="30368" y="0"/>
                  </a:moveTo>
                  <a:lnTo>
                    <a:pt x="1221056" y="0"/>
                  </a:lnTo>
                  <a:cubicBezTo>
                    <a:pt x="1229110" y="0"/>
                    <a:pt x="1236834" y="3199"/>
                    <a:pt x="1242529" y="8894"/>
                  </a:cubicBezTo>
                  <a:cubicBezTo>
                    <a:pt x="1248225" y="14590"/>
                    <a:pt x="1251424" y="22314"/>
                    <a:pt x="1251424" y="30368"/>
                  </a:cubicBezTo>
                  <a:lnTo>
                    <a:pt x="1251424" y="175703"/>
                  </a:lnTo>
                  <a:cubicBezTo>
                    <a:pt x="1251424" y="192475"/>
                    <a:pt x="1237828" y="206071"/>
                    <a:pt x="1221056" y="206071"/>
                  </a:cubicBezTo>
                  <a:lnTo>
                    <a:pt x="30368" y="206071"/>
                  </a:lnTo>
                  <a:cubicBezTo>
                    <a:pt x="22314" y="206071"/>
                    <a:pt x="14590" y="202872"/>
                    <a:pt x="8894" y="197177"/>
                  </a:cubicBezTo>
                  <a:cubicBezTo>
                    <a:pt x="3199" y="191482"/>
                    <a:pt x="0" y="183757"/>
                    <a:pt x="0" y="175703"/>
                  </a:cubicBezTo>
                  <a:lnTo>
                    <a:pt x="0" y="30368"/>
                  </a:lnTo>
                  <a:cubicBezTo>
                    <a:pt x="0" y="22314"/>
                    <a:pt x="3199" y="14590"/>
                    <a:pt x="8894" y="8894"/>
                  </a:cubicBezTo>
                  <a:cubicBezTo>
                    <a:pt x="14590" y="3199"/>
                    <a:pt x="22314" y="0"/>
                    <a:pt x="30368" y="0"/>
                  </a:cubicBezTo>
                  <a:close/>
                </a:path>
              </a:pathLst>
            </a:custGeom>
            <a:solidFill>
              <a:srgbClr val="FFCFCF"/>
            </a:solidFill>
            <a:ln w="57150" cap="rnd">
              <a:solidFill>
                <a:srgbClr val="EEEEEE"/>
              </a:solidFill>
              <a:prstDash val="solid"/>
              <a:round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0" y="-19050"/>
              <a:ext cx="1251424" cy="2251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  <a:endParaRPr/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475612" y="6206311"/>
            <a:ext cx="4979284" cy="819935"/>
            <a:chOff x="0" y="0"/>
            <a:chExt cx="1251424" cy="206071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1251424" cy="206071"/>
            </a:xfrm>
            <a:custGeom>
              <a:avLst/>
              <a:gdLst/>
              <a:ahLst/>
              <a:cxnLst/>
              <a:rect l="l" t="t" r="r" b="b"/>
              <a:pathLst>
                <a:path w="1251424" h="206071">
                  <a:moveTo>
                    <a:pt x="30368" y="0"/>
                  </a:moveTo>
                  <a:lnTo>
                    <a:pt x="1221056" y="0"/>
                  </a:lnTo>
                  <a:cubicBezTo>
                    <a:pt x="1229110" y="0"/>
                    <a:pt x="1236834" y="3199"/>
                    <a:pt x="1242529" y="8894"/>
                  </a:cubicBezTo>
                  <a:cubicBezTo>
                    <a:pt x="1248225" y="14590"/>
                    <a:pt x="1251424" y="22314"/>
                    <a:pt x="1251424" y="30368"/>
                  </a:cubicBezTo>
                  <a:lnTo>
                    <a:pt x="1251424" y="175703"/>
                  </a:lnTo>
                  <a:cubicBezTo>
                    <a:pt x="1251424" y="192475"/>
                    <a:pt x="1237828" y="206071"/>
                    <a:pt x="1221056" y="206071"/>
                  </a:cubicBezTo>
                  <a:lnTo>
                    <a:pt x="30368" y="206071"/>
                  </a:lnTo>
                  <a:cubicBezTo>
                    <a:pt x="22314" y="206071"/>
                    <a:pt x="14590" y="202872"/>
                    <a:pt x="8894" y="197177"/>
                  </a:cubicBezTo>
                  <a:cubicBezTo>
                    <a:pt x="3199" y="191482"/>
                    <a:pt x="0" y="183757"/>
                    <a:pt x="0" y="175703"/>
                  </a:cubicBezTo>
                  <a:lnTo>
                    <a:pt x="0" y="30368"/>
                  </a:lnTo>
                  <a:cubicBezTo>
                    <a:pt x="0" y="22314"/>
                    <a:pt x="3199" y="14590"/>
                    <a:pt x="8894" y="8894"/>
                  </a:cubicBezTo>
                  <a:cubicBezTo>
                    <a:pt x="14590" y="3199"/>
                    <a:pt x="22314" y="0"/>
                    <a:pt x="30368" y="0"/>
                  </a:cubicBezTo>
                  <a:close/>
                </a:path>
              </a:pathLst>
            </a:custGeom>
            <a:solidFill>
              <a:srgbClr val="EDA4FF"/>
            </a:solidFill>
            <a:ln w="57150" cap="rnd">
              <a:solidFill>
                <a:srgbClr val="EEEEEE"/>
              </a:solidFill>
              <a:prstDash val="solid"/>
              <a:round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0" y="-19050"/>
              <a:ext cx="1251424" cy="2251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  <a:endParaRPr/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12880175" y="1595752"/>
            <a:ext cx="4782263" cy="2095752"/>
            <a:chOff x="0" y="0"/>
            <a:chExt cx="984005" cy="431225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984005" cy="431225"/>
            </a:xfrm>
            <a:custGeom>
              <a:avLst/>
              <a:gdLst/>
              <a:ahLst/>
              <a:cxnLst/>
              <a:rect l="l" t="t" r="r" b="b"/>
              <a:pathLst>
                <a:path w="984005" h="431225">
                  <a:moveTo>
                    <a:pt x="31619" y="0"/>
                  </a:moveTo>
                  <a:lnTo>
                    <a:pt x="952386" y="0"/>
                  </a:lnTo>
                  <a:cubicBezTo>
                    <a:pt x="969849" y="0"/>
                    <a:pt x="984005" y="14156"/>
                    <a:pt x="984005" y="31619"/>
                  </a:cubicBezTo>
                  <a:lnTo>
                    <a:pt x="984005" y="399606"/>
                  </a:lnTo>
                  <a:cubicBezTo>
                    <a:pt x="984005" y="417069"/>
                    <a:pt x="969849" y="431225"/>
                    <a:pt x="952386" y="431225"/>
                  </a:cubicBezTo>
                  <a:lnTo>
                    <a:pt x="31619" y="431225"/>
                  </a:lnTo>
                  <a:cubicBezTo>
                    <a:pt x="14156" y="431225"/>
                    <a:pt x="0" y="417069"/>
                    <a:pt x="0" y="399606"/>
                  </a:cubicBezTo>
                  <a:lnTo>
                    <a:pt x="0" y="31619"/>
                  </a:lnTo>
                  <a:cubicBezTo>
                    <a:pt x="0" y="14156"/>
                    <a:pt x="14156" y="0"/>
                    <a:pt x="3161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1" name="TextBox 51"/>
            <p:cNvSpPr txBox="1"/>
            <p:nvPr/>
          </p:nvSpPr>
          <p:spPr>
            <a:xfrm>
              <a:off x="0" y="-19050"/>
              <a:ext cx="984005" cy="4502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  <a:endParaRPr/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13106400" y="1700125"/>
            <a:ext cx="4267200" cy="1572316"/>
            <a:chOff x="0" y="0"/>
            <a:chExt cx="1429945" cy="526885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1429945" cy="526885"/>
            </a:xfrm>
            <a:custGeom>
              <a:avLst/>
              <a:gdLst/>
              <a:ahLst/>
              <a:cxnLst/>
              <a:rect l="l" t="t" r="r" b="b"/>
              <a:pathLst>
                <a:path w="1429945" h="526885">
                  <a:moveTo>
                    <a:pt x="35435" y="0"/>
                  </a:moveTo>
                  <a:lnTo>
                    <a:pt x="1394510" y="0"/>
                  </a:lnTo>
                  <a:cubicBezTo>
                    <a:pt x="1414080" y="0"/>
                    <a:pt x="1429945" y="15865"/>
                    <a:pt x="1429945" y="35435"/>
                  </a:cubicBezTo>
                  <a:lnTo>
                    <a:pt x="1429945" y="491450"/>
                  </a:lnTo>
                  <a:cubicBezTo>
                    <a:pt x="1429945" y="500848"/>
                    <a:pt x="1426212" y="509861"/>
                    <a:pt x="1419566" y="516507"/>
                  </a:cubicBezTo>
                  <a:cubicBezTo>
                    <a:pt x="1412921" y="523152"/>
                    <a:pt x="1403908" y="526885"/>
                    <a:pt x="1394510" y="526885"/>
                  </a:cubicBezTo>
                  <a:lnTo>
                    <a:pt x="35435" y="526885"/>
                  </a:lnTo>
                  <a:cubicBezTo>
                    <a:pt x="15865" y="526885"/>
                    <a:pt x="0" y="511021"/>
                    <a:pt x="0" y="491450"/>
                  </a:cubicBezTo>
                  <a:lnTo>
                    <a:pt x="0" y="35435"/>
                  </a:lnTo>
                  <a:cubicBezTo>
                    <a:pt x="0" y="26037"/>
                    <a:pt x="3733" y="17024"/>
                    <a:pt x="10379" y="10379"/>
                  </a:cubicBezTo>
                  <a:cubicBezTo>
                    <a:pt x="17024" y="3733"/>
                    <a:pt x="26037" y="0"/>
                    <a:pt x="35435" y="0"/>
                  </a:cubicBezTo>
                  <a:close/>
                </a:path>
              </a:pathLst>
            </a:custGeom>
            <a:solidFill>
              <a:srgbClr val="B6FFFF"/>
            </a:solidFill>
            <a:ln w="57150" cap="rnd">
              <a:solidFill>
                <a:srgbClr val="EEEEEE"/>
              </a:solidFill>
              <a:prstDash val="solid"/>
              <a:round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0" y="-19050"/>
              <a:ext cx="1429945" cy="5459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  <a:endParaRPr/>
            </a:p>
          </p:txBody>
        </p:sp>
      </p:grpSp>
      <p:sp>
        <p:nvSpPr>
          <p:cNvPr id="55" name="AutoShape 55"/>
          <p:cNvSpPr/>
          <p:nvPr/>
        </p:nvSpPr>
        <p:spPr>
          <a:xfrm>
            <a:off x="3180861" y="1868943"/>
            <a:ext cx="2931146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6" name="AutoShape 56"/>
          <p:cNvSpPr/>
          <p:nvPr/>
        </p:nvSpPr>
        <p:spPr>
          <a:xfrm flipV="1">
            <a:off x="11968708" y="4029540"/>
            <a:ext cx="751152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57" name="Group 57"/>
          <p:cNvGrpSpPr/>
          <p:nvPr/>
        </p:nvGrpSpPr>
        <p:grpSpPr>
          <a:xfrm>
            <a:off x="12719860" y="4161315"/>
            <a:ext cx="5371768" cy="5276022"/>
            <a:chOff x="0" y="0"/>
            <a:chExt cx="1093735" cy="1074241"/>
          </a:xfrm>
        </p:grpSpPr>
        <p:sp>
          <p:nvSpPr>
            <p:cNvPr id="58" name="Freeform 58"/>
            <p:cNvSpPr/>
            <p:nvPr/>
          </p:nvSpPr>
          <p:spPr>
            <a:xfrm>
              <a:off x="0" y="0"/>
              <a:ext cx="1093735" cy="1074241"/>
            </a:xfrm>
            <a:custGeom>
              <a:avLst/>
              <a:gdLst/>
              <a:ahLst/>
              <a:cxnLst/>
              <a:rect l="l" t="t" r="r" b="b"/>
              <a:pathLst>
                <a:path w="1093735" h="1074241">
                  <a:moveTo>
                    <a:pt x="28149" y="0"/>
                  </a:moveTo>
                  <a:lnTo>
                    <a:pt x="1065586" y="0"/>
                  </a:lnTo>
                  <a:cubicBezTo>
                    <a:pt x="1073052" y="0"/>
                    <a:pt x="1080212" y="2966"/>
                    <a:pt x="1085491" y="8245"/>
                  </a:cubicBezTo>
                  <a:cubicBezTo>
                    <a:pt x="1090769" y="13524"/>
                    <a:pt x="1093735" y="20683"/>
                    <a:pt x="1093735" y="28149"/>
                  </a:cubicBezTo>
                  <a:lnTo>
                    <a:pt x="1093735" y="1046092"/>
                  </a:lnTo>
                  <a:cubicBezTo>
                    <a:pt x="1093735" y="1053557"/>
                    <a:pt x="1090769" y="1060717"/>
                    <a:pt x="1085491" y="1065996"/>
                  </a:cubicBezTo>
                  <a:cubicBezTo>
                    <a:pt x="1080212" y="1071275"/>
                    <a:pt x="1073052" y="1074241"/>
                    <a:pt x="1065586" y="1074241"/>
                  </a:cubicBezTo>
                  <a:lnTo>
                    <a:pt x="28149" y="1074241"/>
                  </a:lnTo>
                  <a:cubicBezTo>
                    <a:pt x="20683" y="1074241"/>
                    <a:pt x="13524" y="1071275"/>
                    <a:pt x="8245" y="1065996"/>
                  </a:cubicBezTo>
                  <a:cubicBezTo>
                    <a:pt x="2966" y="1060717"/>
                    <a:pt x="0" y="1053557"/>
                    <a:pt x="0" y="1046092"/>
                  </a:cubicBezTo>
                  <a:lnTo>
                    <a:pt x="0" y="28149"/>
                  </a:lnTo>
                  <a:cubicBezTo>
                    <a:pt x="0" y="20683"/>
                    <a:pt x="2966" y="13524"/>
                    <a:pt x="8245" y="8245"/>
                  </a:cubicBezTo>
                  <a:cubicBezTo>
                    <a:pt x="13524" y="2966"/>
                    <a:pt x="20683" y="0"/>
                    <a:pt x="2814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9" name="TextBox 59"/>
            <p:cNvSpPr txBox="1"/>
            <p:nvPr/>
          </p:nvSpPr>
          <p:spPr>
            <a:xfrm>
              <a:off x="0" y="-19050"/>
              <a:ext cx="1093735" cy="109329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  <a:endParaRPr/>
            </a:p>
          </p:txBody>
        </p:sp>
      </p:grpSp>
      <p:sp>
        <p:nvSpPr>
          <p:cNvPr id="60" name="TextBox 60"/>
          <p:cNvSpPr txBox="1"/>
          <p:nvPr/>
        </p:nvSpPr>
        <p:spPr>
          <a:xfrm>
            <a:off x="12936992" y="3229608"/>
            <a:ext cx="4725446" cy="371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93"/>
              </a:lnSpc>
              <a:spcBef>
                <a:spcPct val="0"/>
              </a:spcBef>
            </a:pPr>
            <a:r>
              <a:rPr lang="en-US" sz="241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IMD/ISRO coordination channel</a:t>
            </a:r>
          </a:p>
        </p:txBody>
      </p:sp>
      <p:sp>
        <p:nvSpPr>
          <p:cNvPr id="61" name="AutoShape 61"/>
          <p:cNvSpPr/>
          <p:nvPr/>
        </p:nvSpPr>
        <p:spPr>
          <a:xfrm flipV="1">
            <a:off x="12736713" y="2769919"/>
            <a:ext cx="485698" cy="124474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2" name="Freeform 62"/>
          <p:cNvSpPr/>
          <p:nvPr/>
        </p:nvSpPr>
        <p:spPr>
          <a:xfrm>
            <a:off x="134624" y="7650823"/>
            <a:ext cx="1330953" cy="1786514"/>
          </a:xfrm>
          <a:custGeom>
            <a:avLst/>
            <a:gdLst/>
            <a:ahLst/>
            <a:cxnLst/>
            <a:rect l="l" t="t" r="r" b="b"/>
            <a:pathLst>
              <a:path w="1330953" h="1786514">
                <a:moveTo>
                  <a:pt x="0" y="0"/>
                </a:moveTo>
                <a:lnTo>
                  <a:pt x="1330952" y="0"/>
                </a:lnTo>
                <a:lnTo>
                  <a:pt x="1330952" y="1786514"/>
                </a:lnTo>
                <a:lnTo>
                  <a:pt x="0" y="178651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3" name="Freeform 63"/>
          <p:cNvSpPr/>
          <p:nvPr/>
        </p:nvSpPr>
        <p:spPr>
          <a:xfrm>
            <a:off x="10904747" y="5560324"/>
            <a:ext cx="817726" cy="601029"/>
          </a:xfrm>
          <a:custGeom>
            <a:avLst/>
            <a:gdLst/>
            <a:ahLst/>
            <a:cxnLst/>
            <a:rect l="l" t="t" r="r" b="b"/>
            <a:pathLst>
              <a:path w="817726" h="601029">
                <a:moveTo>
                  <a:pt x="0" y="0"/>
                </a:moveTo>
                <a:lnTo>
                  <a:pt x="817726" y="0"/>
                </a:lnTo>
                <a:lnTo>
                  <a:pt x="817726" y="601028"/>
                </a:lnTo>
                <a:lnTo>
                  <a:pt x="0" y="60102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4" name="Freeform 64"/>
          <p:cNvSpPr/>
          <p:nvPr/>
        </p:nvSpPr>
        <p:spPr>
          <a:xfrm>
            <a:off x="10904747" y="7474173"/>
            <a:ext cx="873553" cy="602752"/>
          </a:xfrm>
          <a:custGeom>
            <a:avLst/>
            <a:gdLst/>
            <a:ahLst/>
            <a:cxnLst/>
            <a:rect l="l" t="t" r="r" b="b"/>
            <a:pathLst>
              <a:path w="873553" h="602752">
                <a:moveTo>
                  <a:pt x="0" y="0"/>
                </a:moveTo>
                <a:lnTo>
                  <a:pt x="873554" y="0"/>
                </a:lnTo>
                <a:lnTo>
                  <a:pt x="873554" y="602752"/>
                </a:lnTo>
                <a:lnTo>
                  <a:pt x="0" y="60275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5" name="Freeform 65"/>
          <p:cNvSpPr/>
          <p:nvPr/>
        </p:nvSpPr>
        <p:spPr>
          <a:xfrm>
            <a:off x="10904747" y="3676328"/>
            <a:ext cx="706424" cy="706424"/>
          </a:xfrm>
          <a:custGeom>
            <a:avLst/>
            <a:gdLst/>
            <a:ahLst/>
            <a:cxnLst/>
            <a:rect l="l" t="t" r="r" b="b"/>
            <a:pathLst>
              <a:path w="706424" h="706424">
                <a:moveTo>
                  <a:pt x="0" y="0"/>
                </a:moveTo>
                <a:lnTo>
                  <a:pt x="706424" y="0"/>
                </a:lnTo>
                <a:lnTo>
                  <a:pt x="706424" y="706424"/>
                </a:lnTo>
                <a:lnTo>
                  <a:pt x="0" y="70642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66" name="Freeform 66"/>
          <p:cNvSpPr/>
          <p:nvPr/>
        </p:nvSpPr>
        <p:spPr>
          <a:xfrm>
            <a:off x="10874345" y="1681477"/>
            <a:ext cx="736826" cy="736826"/>
          </a:xfrm>
          <a:custGeom>
            <a:avLst/>
            <a:gdLst/>
            <a:ahLst/>
            <a:cxnLst/>
            <a:rect l="l" t="t" r="r" b="b"/>
            <a:pathLst>
              <a:path w="736826" h="736826">
                <a:moveTo>
                  <a:pt x="0" y="0"/>
                </a:moveTo>
                <a:lnTo>
                  <a:pt x="736826" y="0"/>
                </a:lnTo>
                <a:lnTo>
                  <a:pt x="736826" y="736826"/>
                </a:lnTo>
                <a:lnTo>
                  <a:pt x="0" y="73682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67" name="TextBox 67"/>
          <p:cNvSpPr txBox="1"/>
          <p:nvPr/>
        </p:nvSpPr>
        <p:spPr>
          <a:xfrm>
            <a:off x="484639" y="4924890"/>
            <a:ext cx="4935889" cy="857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79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IMD HISTORICAL Best Track Records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5848976" y="3608866"/>
            <a:ext cx="5502294" cy="857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79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PYTHON ML SERVICE- Flask/FastAPI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6116188" y="4572465"/>
            <a:ext cx="6477601" cy="733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93"/>
              </a:lnSpc>
            </a:pPr>
            <a:r>
              <a:rPr lang="en-US" sz="2411" b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CNN (Detect+Classify)-&gt;Grad-CAM     </a:t>
            </a:r>
          </a:p>
          <a:p>
            <a:pPr algn="ctr">
              <a:lnSpc>
                <a:spcPts val="2893"/>
              </a:lnSpc>
              <a:spcBef>
                <a:spcPct val="0"/>
              </a:spcBef>
            </a:pPr>
            <a:r>
              <a:rPr lang="en-US" sz="2411" b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-&gt;GRU(Track +Intensity)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13106400" y="1648083"/>
            <a:ext cx="4267200" cy="1581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20"/>
              </a:lnSpc>
            </a:pPr>
            <a:r>
              <a:rPr lang="en-US" sz="26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Rapid Scan Request</a:t>
            </a:r>
          </a:p>
          <a:p>
            <a:pPr algn="ctr">
              <a:lnSpc>
                <a:spcPts val="3120"/>
              </a:lnSpc>
            </a:pPr>
            <a:r>
              <a:rPr lang="en-US" sz="26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(sector, co-ordinations, configuration,</a:t>
            </a:r>
          </a:p>
          <a:p>
            <a:pPr algn="ctr">
              <a:lnSpc>
                <a:spcPts val="3120"/>
              </a:lnSpc>
              <a:spcBef>
                <a:spcPct val="0"/>
              </a:spcBef>
            </a:pPr>
            <a:r>
              <a:rPr lang="en-US" sz="26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Grad-CAM evidence)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1398987" y="2601853"/>
            <a:ext cx="3132534" cy="438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60"/>
              </a:lnSpc>
              <a:spcBef>
                <a:spcPct val="0"/>
              </a:spcBef>
            </a:pPr>
            <a:r>
              <a:rPr lang="en-US" sz="28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INSAT SATELLITE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1348385" y="3864224"/>
            <a:ext cx="3233738" cy="438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60"/>
              </a:lnSpc>
              <a:spcBef>
                <a:spcPct val="0"/>
              </a:spcBef>
            </a:pPr>
            <a:r>
              <a:rPr lang="en-US" sz="28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SCATTEROMETER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958307" y="6392525"/>
            <a:ext cx="4013895" cy="438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60"/>
              </a:lnSpc>
              <a:spcBef>
                <a:spcPct val="0"/>
              </a:spcBef>
            </a:pPr>
            <a:r>
              <a:rPr lang="en-US" sz="28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POPULATION DENSITY</a:t>
            </a:r>
          </a:p>
        </p:txBody>
      </p:sp>
      <p:sp>
        <p:nvSpPr>
          <p:cNvPr id="74" name="TextBox 74"/>
          <p:cNvSpPr txBox="1"/>
          <p:nvPr/>
        </p:nvSpPr>
        <p:spPr>
          <a:xfrm>
            <a:off x="6700655" y="1897518"/>
            <a:ext cx="3039666" cy="438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79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DATA INGESTION</a:t>
            </a:r>
          </a:p>
        </p:txBody>
      </p:sp>
      <p:sp>
        <p:nvSpPr>
          <p:cNvPr id="75" name="TextBox 75"/>
          <p:cNvSpPr txBox="1"/>
          <p:nvPr/>
        </p:nvSpPr>
        <p:spPr>
          <a:xfrm>
            <a:off x="5572927" y="5463591"/>
            <a:ext cx="5778343" cy="857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79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BACKEND API-</a:t>
            </a:r>
          </a:p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79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Node/Express(port 4000)</a:t>
            </a:r>
          </a:p>
        </p:txBody>
      </p:sp>
      <p:sp>
        <p:nvSpPr>
          <p:cNvPr id="76" name="TextBox 76"/>
          <p:cNvSpPr txBox="1"/>
          <p:nvPr/>
        </p:nvSpPr>
        <p:spPr>
          <a:xfrm>
            <a:off x="6074738" y="7326174"/>
            <a:ext cx="4291499" cy="857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79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FRONT END-React+Vite(port 3000)</a:t>
            </a:r>
          </a:p>
        </p:txBody>
      </p:sp>
      <p:sp>
        <p:nvSpPr>
          <p:cNvPr id="77" name="TextBox 77"/>
          <p:cNvSpPr txBox="1"/>
          <p:nvPr/>
        </p:nvSpPr>
        <p:spPr>
          <a:xfrm>
            <a:off x="6312092" y="2665953"/>
            <a:ext cx="5627936" cy="371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93"/>
              </a:lnSpc>
              <a:spcBef>
                <a:spcPct val="0"/>
              </a:spcBef>
            </a:pPr>
            <a:r>
              <a:rPr lang="en-US" sz="2411" b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FOLLOWS ~26 MIN FULL DISC CYLCE</a:t>
            </a:r>
          </a:p>
        </p:txBody>
      </p:sp>
      <p:sp>
        <p:nvSpPr>
          <p:cNvPr id="78" name="TextBox 78"/>
          <p:cNvSpPr txBox="1"/>
          <p:nvPr/>
        </p:nvSpPr>
        <p:spPr>
          <a:xfrm>
            <a:off x="6116188" y="6494352"/>
            <a:ext cx="6284012" cy="371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93"/>
              </a:lnSpc>
              <a:spcBef>
                <a:spcPct val="0"/>
              </a:spcBef>
            </a:pPr>
            <a:r>
              <a:rPr lang="en-US" sz="2411" b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Model output,history,risk,reports,helplines</a:t>
            </a:r>
          </a:p>
        </p:txBody>
      </p:sp>
      <p:sp>
        <p:nvSpPr>
          <p:cNvPr id="79" name="TextBox 79"/>
          <p:cNvSpPr txBox="1"/>
          <p:nvPr/>
        </p:nvSpPr>
        <p:spPr>
          <a:xfrm>
            <a:off x="6112007" y="8387570"/>
            <a:ext cx="6019744" cy="371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93"/>
              </a:lnSpc>
              <a:spcBef>
                <a:spcPct val="0"/>
              </a:spcBef>
            </a:pPr>
            <a:r>
              <a:rPr lang="en-US" sz="2411" b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Map,alerts,panels,authority dashboard</a:t>
            </a:r>
          </a:p>
        </p:txBody>
      </p:sp>
      <p:sp>
        <p:nvSpPr>
          <p:cNvPr id="80" name="TextBox 80"/>
          <p:cNvSpPr txBox="1"/>
          <p:nvPr/>
        </p:nvSpPr>
        <p:spPr>
          <a:xfrm>
            <a:off x="1867175" y="3220083"/>
            <a:ext cx="2063948" cy="3198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04"/>
              </a:lnSpc>
              <a:spcBef>
                <a:spcPct val="0"/>
              </a:spcBef>
            </a:pPr>
            <a:r>
              <a:rPr lang="en-US" sz="2003" b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(IR/VISIBLE/WV)</a:t>
            </a:r>
          </a:p>
        </p:txBody>
      </p:sp>
      <p:sp>
        <p:nvSpPr>
          <p:cNvPr id="81" name="TextBox 81"/>
          <p:cNvSpPr txBox="1"/>
          <p:nvPr/>
        </p:nvSpPr>
        <p:spPr>
          <a:xfrm>
            <a:off x="2165364" y="4452426"/>
            <a:ext cx="1467570" cy="3198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04"/>
              </a:lnSpc>
              <a:spcBef>
                <a:spcPct val="0"/>
              </a:spcBef>
            </a:pPr>
            <a:r>
              <a:rPr lang="en-US" sz="2003" b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WIND DATA</a:t>
            </a:r>
          </a:p>
        </p:txBody>
      </p:sp>
      <p:sp>
        <p:nvSpPr>
          <p:cNvPr id="82" name="TextBox 82"/>
          <p:cNvSpPr txBox="1"/>
          <p:nvPr/>
        </p:nvSpPr>
        <p:spPr>
          <a:xfrm>
            <a:off x="1528110" y="6980500"/>
            <a:ext cx="2742078" cy="3198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04"/>
              </a:lnSpc>
              <a:spcBef>
                <a:spcPct val="0"/>
              </a:spcBef>
            </a:pPr>
            <a:r>
              <a:rPr lang="en-US" sz="2003" b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(CENSUS/WORLDPOP)</a:t>
            </a:r>
          </a:p>
        </p:txBody>
      </p:sp>
      <p:sp>
        <p:nvSpPr>
          <p:cNvPr id="83" name="TextBox 83"/>
          <p:cNvSpPr txBox="1"/>
          <p:nvPr/>
        </p:nvSpPr>
        <p:spPr>
          <a:xfrm>
            <a:off x="12743223" y="4487226"/>
            <a:ext cx="5325043" cy="4543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42"/>
              </a:lnSpc>
            </a:pPr>
            <a:r>
              <a:rPr lang="en-US" sz="3285" b="1">
                <a:solidFill>
                  <a:srgbClr val="FFF27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METHODOLOGY </a:t>
            </a:r>
          </a:p>
          <a:p>
            <a:pPr algn="ctr">
              <a:lnSpc>
                <a:spcPts val="3534"/>
              </a:lnSpc>
            </a:pPr>
            <a:endParaRPr lang="en-US" sz="3285" b="1">
              <a:solidFill>
                <a:srgbClr val="FFF27D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  <a:p>
            <a:pPr marL="635826" lvl="1" indent="-317913" algn="l">
              <a:lnSpc>
                <a:spcPts val="3534"/>
              </a:lnSpc>
              <a:buFont typeface="Arial"/>
              <a:buChar char="•"/>
            </a:pPr>
            <a:r>
              <a:rPr lang="en-US" sz="2945">
                <a:solidFill>
                  <a:srgbClr val="8AF2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Pretrained CNN detects and classifies cyclones</a:t>
            </a:r>
          </a:p>
          <a:p>
            <a:pPr marL="635826" lvl="1" indent="-317913" algn="l">
              <a:lnSpc>
                <a:spcPts val="3534"/>
              </a:lnSpc>
              <a:buFont typeface="Arial"/>
              <a:buChar char="•"/>
            </a:pPr>
            <a:r>
              <a:rPr lang="en-US" sz="2945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945">
                <a:solidFill>
                  <a:srgbClr val="BEFF7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grad-CAM validates.</a:t>
            </a:r>
          </a:p>
          <a:p>
            <a:pPr marL="635826" lvl="1" indent="-317913" algn="l">
              <a:lnSpc>
                <a:spcPts val="3534"/>
              </a:lnSpc>
              <a:buFont typeface="Arial"/>
              <a:buChar char="•"/>
            </a:pPr>
            <a:r>
              <a:rPr lang="en-US" sz="2945">
                <a:solidFill>
                  <a:srgbClr val="FFC2C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GRU predicts 6 to 24 hour track/intensity using positions and wind data.</a:t>
            </a:r>
          </a:p>
          <a:p>
            <a:pPr marL="635826" lvl="1" indent="-317913" algn="l">
              <a:lnSpc>
                <a:spcPts val="3534"/>
              </a:lnSpc>
              <a:buFont typeface="Arial"/>
              <a:buChar char="•"/>
            </a:pPr>
            <a:r>
              <a:rPr lang="en-US" sz="2945">
                <a:solidFill>
                  <a:srgbClr val="E57D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Serves track/intensity via API to dashboard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532144"/>
            <a:ext cx="18288000" cy="754856"/>
            <a:chOff x="0" y="0"/>
            <a:chExt cx="24384000" cy="100647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006475"/>
            </a:xfrm>
            <a:custGeom>
              <a:avLst/>
              <a:gdLst/>
              <a:ahLst/>
              <a:cxnLst/>
              <a:rect l="l" t="t" r="r" b="b"/>
              <a:pathLst>
                <a:path w="24384000" h="1006475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1741060" y="1778552"/>
            <a:ext cx="5872166" cy="3764923"/>
            <a:chOff x="0" y="0"/>
            <a:chExt cx="904153" cy="57969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904153" cy="579696"/>
            </a:xfrm>
            <a:custGeom>
              <a:avLst/>
              <a:gdLst/>
              <a:ahLst/>
              <a:cxnLst/>
              <a:rect l="l" t="t" r="r" b="b"/>
              <a:pathLst>
                <a:path w="904153" h="579696">
                  <a:moveTo>
                    <a:pt x="25750" y="0"/>
                  </a:moveTo>
                  <a:lnTo>
                    <a:pt x="878403" y="0"/>
                  </a:lnTo>
                  <a:cubicBezTo>
                    <a:pt x="885233" y="0"/>
                    <a:pt x="891782" y="2713"/>
                    <a:pt x="896611" y="7542"/>
                  </a:cubicBezTo>
                  <a:cubicBezTo>
                    <a:pt x="901441" y="12371"/>
                    <a:pt x="904153" y="18921"/>
                    <a:pt x="904153" y="25750"/>
                  </a:cubicBezTo>
                  <a:lnTo>
                    <a:pt x="904153" y="553945"/>
                  </a:lnTo>
                  <a:cubicBezTo>
                    <a:pt x="904153" y="560775"/>
                    <a:pt x="901441" y="567324"/>
                    <a:pt x="896611" y="572153"/>
                  </a:cubicBezTo>
                  <a:cubicBezTo>
                    <a:pt x="891782" y="576983"/>
                    <a:pt x="885233" y="579696"/>
                    <a:pt x="878403" y="579696"/>
                  </a:cubicBezTo>
                  <a:lnTo>
                    <a:pt x="25750" y="579696"/>
                  </a:lnTo>
                  <a:cubicBezTo>
                    <a:pt x="11529" y="579696"/>
                    <a:pt x="0" y="568167"/>
                    <a:pt x="0" y="553945"/>
                  </a:cubicBezTo>
                  <a:lnTo>
                    <a:pt x="0" y="25750"/>
                  </a:lnTo>
                  <a:cubicBezTo>
                    <a:pt x="0" y="18921"/>
                    <a:pt x="2713" y="12371"/>
                    <a:pt x="7542" y="7542"/>
                  </a:cubicBezTo>
                  <a:cubicBezTo>
                    <a:pt x="12371" y="2713"/>
                    <a:pt x="18921" y="0"/>
                    <a:pt x="25750" y="0"/>
                  </a:cubicBezTo>
                  <a:close/>
                </a:path>
              </a:pathLst>
            </a:custGeom>
            <a:solidFill>
              <a:srgbClr val="B6FFFF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19050"/>
              <a:ext cx="904153" cy="59874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914400" y="-71438"/>
            <a:ext cx="16459200" cy="1714500"/>
            <a:chOff x="0" y="0"/>
            <a:chExt cx="21945600" cy="22860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1945600" cy="2286000"/>
            </a:xfrm>
            <a:custGeom>
              <a:avLst/>
              <a:gdLst/>
              <a:ahLst/>
              <a:cxnLst/>
              <a:rect l="l" t="t" r="r" b="b"/>
              <a:pathLst>
                <a:path w="21945600" h="22860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7056" b="-137056"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480"/>
                </a:lnSpc>
              </a:pPr>
              <a:r>
                <a:rPr lang="en-US" sz="5400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FEASIBILITY AND VIABILITY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3106400" y="9534525"/>
            <a:ext cx="4267200" cy="547688"/>
            <a:chOff x="0" y="0"/>
            <a:chExt cx="5689600" cy="73025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5689600" cy="730250"/>
            </a:xfrm>
            <a:custGeom>
              <a:avLst/>
              <a:gdLst/>
              <a:ahLst/>
              <a:cxnLst/>
              <a:rect l="l" t="t" r="r" b="b"/>
              <a:pathLst>
                <a:path w="5689600" h="73025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1813" b="-101813"/>
              </a:stretch>
            </a:blipFill>
          </p:spPr>
        </p:sp>
        <p:sp>
          <p:nvSpPr>
            <p:cNvPr id="12" name="TextBox 12"/>
            <p:cNvSpPr txBox="1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4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6972300" y="9534525"/>
            <a:ext cx="4806001" cy="547688"/>
            <a:chOff x="0" y="0"/>
            <a:chExt cx="6408001" cy="73025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6408000" cy="730250"/>
            </a:xfrm>
            <a:custGeom>
              <a:avLst/>
              <a:gdLst/>
              <a:ahLst/>
              <a:cxnLst/>
              <a:rect l="l" t="t" r="r" b="b"/>
              <a:pathLst>
                <a:path w="6408000" h="73025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0982" b="-120982"/>
              </a:stretch>
            </a:blipFill>
          </p:spPr>
        </p:sp>
        <p:sp>
          <p:nvSpPr>
            <p:cNvPr id="15" name="TextBox 15"/>
            <p:cNvSpPr txBox="1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@SIH Idea submission- Template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475612" y="359321"/>
            <a:ext cx="1915887" cy="1249101"/>
            <a:chOff x="0" y="0"/>
            <a:chExt cx="2554516" cy="1665468"/>
          </a:xfrm>
        </p:grpSpPr>
        <p:sp>
          <p:nvSpPr>
            <p:cNvPr id="17" name="Freeform 17" descr="Your startup LOGO"/>
            <p:cNvSpPr/>
            <p:nvPr/>
          </p:nvSpPr>
          <p:spPr>
            <a:xfrm>
              <a:off x="0" y="0"/>
              <a:ext cx="2554478" cy="1665481"/>
            </a:xfrm>
            <a:custGeom>
              <a:avLst/>
              <a:gdLst/>
              <a:ahLst/>
              <a:cxnLst/>
              <a:rect l="l" t="t" r="r" b="b"/>
              <a:pathLst>
                <a:path w="2554478" h="1665481">
                  <a:moveTo>
                    <a:pt x="0" y="832740"/>
                  </a:moveTo>
                  <a:cubicBezTo>
                    <a:pt x="0" y="372873"/>
                    <a:pt x="571881" y="0"/>
                    <a:pt x="1277239" y="0"/>
                  </a:cubicBezTo>
                  <a:cubicBezTo>
                    <a:pt x="1982597" y="0"/>
                    <a:pt x="2554478" y="372873"/>
                    <a:pt x="2554478" y="832740"/>
                  </a:cubicBezTo>
                  <a:cubicBezTo>
                    <a:pt x="2554478" y="1292608"/>
                    <a:pt x="1982597" y="1665481"/>
                    <a:pt x="1277239" y="1665481"/>
                  </a:cubicBezTo>
                  <a:cubicBezTo>
                    <a:pt x="571881" y="1665481"/>
                    <a:pt x="0" y="1292608"/>
                    <a:pt x="0" y="83274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0" y="-57150"/>
              <a:ext cx="2554516" cy="17226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rOYAl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4775404" y="-71438"/>
            <a:ext cx="3374774" cy="1593504"/>
            <a:chOff x="0" y="0"/>
            <a:chExt cx="4499699" cy="2124672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4499737" cy="2124710"/>
            </a:xfrm>
            <a:custGeom>
              <a:avLst/>
              <a:gdLst/>
              <a:ahLst/>
              <a:cxnLst/>
              <a:rect l="l" t="t" r="r" b="b"/>
              <a:pathLst>
                <a:path w="4499737" h="2124710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b="1"/>
              </a:stretch>
            </a:blipFill>
          </p:spPr>
        </p:sp>
      </p:grpSp>
      <p:grpSp>
        <p:nvGrpSpPr>
          <p:cNvPr id="21" name="Group 21"/>
          <p:cNvGrpSpPr/>
          <p:nvPr/>
        </p:nvGrpSpPr>
        <p:grpSpPr>
          <a:xfrm>
            <a:off x="5596042" y="3350024"/>
            <a:ext cx="5983320" cy="4717574"/>
            <a:chOff x="0" y="0"/>
            <a:chExt cx="921268" cy="726378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921268" cy="726378"/>
            </a:xfrm>
            <a:custGeom>
              <a:avLst/>
              <a:gdLst/>
              <a:ahLst/>
              <a:cxnLst/>
              <a:rect l="l" t="t" r="r" b="b"/>
              <a:pathLst>
                <a:path w="921268" h="726378">
                  <a:moveTo>
                    <a:pt x="25272" y="0"/>
                  </a:moveTo>
                  <a:lnTo>
                    <a:pt x="895996" y="0"/>
                  </a:lnTo>
                  <a:cubicBezTo>
                    <a:pt x="909954" y="0"/>
                    <a:pt x="921268" y="11315"/>
                    <a:pt x="921268" y="25272"/>
                  </a:cubicBezTo>
                  <a:lnTo>
                    <a:pt x="921268" y="701106"/>
                  </a:lnTo>
                  <a:cubicBezTo>
                    <a:pt x="921268" y="707809"/>
                    <a:pt x="918606" y="714237"/>
                    <a:pt x="913866" y="718976"/>
                  </a:cubicBezTo>
                  <a:cubicBezTo>
                    <a:pt x="909127" y="723715"/>
                    <a:pt x="902699" y="726378"/>
                    <a:pt x="895996" y="726378"/>
                  </a:cubicBezTo>
                  <a:lnTo>
                    <a:pt x="25272" y="726378"/>
                  </a:lnTo>
                  <a:cubicBezTo>
                    <a:pt x="11315" y="726378"/>
                    <a:pt x="0" y="715063"/>
                    <a:pt x="0" y="701106"/>
                  </a:cubicBezTo>
                  <a:lnTo>
                    <a:pt x="0" y="25272"/>
                  </a:lnTo>
                  <a:cubicBezTo>
                    <a:pt x="0" y="11315"/>
                    <a:pt x="11315" y="0"/>
                    <a:pt x="25272" y="0"/>
                  </a:cubicBezTo>
                  <a:close/>
                </a:path>
              </a:pathLst>
            </a:custGeom>
            <a:solidFill>
              <a:srgbClr val="FFF48F"/>
            </a:solidFill>
          </p:spPr>
        </p:sp>
        <p:sp>
          <p:nvSpPr>
            <p:cNvPr id="23" name="TextBox 23"/>
            <p:cNvSpPr txBox="1"/>
            <p:nvPr/>
          </p:nvSpPr>
          <p:spPr>
            <a:xfrm>
              <a:off x="0" y="-19050"/>
              <a:ext cx="921268" cy="7454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  <a:endParaRPr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5596042" y="3687578"/>
            <a:ext cx="2910569" cy="1920976"/>
            <a:chOff x="0" y="0"/>
            <a:chExt cx="635000" cy="4191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635000" cy="419100"/>
            </a:xfrm>
            <a:custGeom>
              <a:avLst/>
              <a:gdLst/>
              <a:ahLst/>
              <a:cxnLst/>
              <a:rect l="l" t="t" r="r" b="b"/>
              <a:pathLst>
                <a:path w="635000" h="419100">
                  <a:moveTo>
                    <a:pt x="51952" y="0"/>
                  </a:moveTo>
                  <a:lnTo>
                    <a:pt x="583048" y="0"/>
                  </a:lnTo>
                  <a:cubicBezTo>
                    <a:pt x="596827" y="0"/>
                    <a:pt x="610041" y="5473"/>
                    <a:pt x="619784" y="15216"/>
                  </a:cubicBezTo>
                  <a:cubicBezTo>
                    <a:pt x="629526" y="24959"/>
                    <a:pt x="635000" y="38173"/>
                    <a:pt x="635000" y="51952"/>
                  </a:cubicBezTo>
                  <a:lnTo>
                    <a:pt x="635000" y="367148"/>
                  </a:lnTo>
                  <a:cubicBezTo>
                    <a:pt x="635000" y="380927"/>
                    <a:pt x="629526" y="394141"/>
                    <a:pt x="619784" y="403884"/>
                  </a:cubicBezTo>
                  <a:cubicBezTo>
                    <a:pt x="610041" y="413626"/>
                    <a:pt x="596827" y="419100"/>
                    <a:pt x="583048" y="419100"/>
                  </a:cubicBezTo>
                  <a:lnTo>
                    <a:pt x="51952" y="419100"/>
                  </a:lnTo>
                  <a:cubicBezTo>
                    <a:pt x="38173" y="419100"/>
                    <a:pt x="24959" y="413626"/>
                    <a:pt x="15216" y="403884"/>
                  </a:cubicBezTo>
                  <a:cubicBezTo>
                    <a:pt x="5473" y="394141"/>
                    <a:pt x="0" y="380927"/>
                    <a:pt x="0" y="367148"/>
                  </a:cubicBezTo>
                  <a:lnTo>
                    <a:pt x="0" y="51952"/>
                  </a:lnTo>
                  <a:cubicBezTo>
                    <a:pt x="0" y="38173"/>
                    <a:pt x="5473" y="24959"/>
                    <a:pt x="15216" y="15216"/>
                  </a:cubicBezTo>
                  <a:cubicBezTo>
                    <a:pt x="24959" y="5473"/>
                    <a:pt x="38173" y="0"/>
                    <a:pt x="51952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6" name="TextBox 26"/>
            <p:cNvSpPr txBox="1"/>
            <p:nvPr/>
          </p:nvSpPr>
          <p:spPr>
            <a:xfrm>
              <a:off x="0" y="-19050"/>
              <a:ext cx="635000" cy="4381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  <a:endParaRPr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8668793" y="3687578"/>
            <a:ext cx="2910569" cy="1920976"/>
            <a:chOff x="0" y="0"/>
            <a:chExt cx="635000" cy="41910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635000" cy="419100"/>
            </a:xfrm>
            <a:custGeom>
              <a:avLst/>
              <a:gdLst/>
              <a:ahLst/>
              <a:cxnLst/>
              <a:rect l="l" t="t" r="r" b="b"/>
              <a:pathLst>
                <a:path w="635000" h="419100">
                  <a:moveTo>
                    <a:pt x="51952" y="0"/>
                  </a:moveTo>
                  <a:lnTo>
                    <a:pt x="583048" y="0"/>
                  </a:lnTo>
                  <a:cubicBezTo>
                    <a:pt x="596827" y="0"/>
                    <a:pt x="610041" y="5473"/>
                    <a:pt x="619784" y="15216"/>
                  </a:cubicBezTo>
                  <a:cubicBezTo>
                    <a:pt x="629526" y="24959"/>
                    <a:pt x="635000" y="38173"/>
                    <a:pt x="635000" y="51952"/>
                  </a:cubicBezTo>
                  <a:lnTo>
                    <a:pt x="635000" y="367148"/>
                  </a:lnTo>
                  <a:cubicBezTo>
                    <a:pt x="635000" y="380927"/>
                    <a:pt x="629526" y="394141"/>
                    <a:pt x="619784" y="403884"/>
                  </a:cubicBezTo>
                  <a:cubicBezTo>
                    <a:pt x="610041" y="413626"/>
                    <a:pt x="596827" y="419100"/>
                    <a:pt x="583048" y="419100"/>
                  </a:cubicBezTo>
                  <a:lnTo>
                    <a:pt x="51952" y="419100"/>
                  </a:lnTo>
                  <a:cubicBezTo>
                    <a:pt x="38173" y="419100"/>
                    <a:pt x="24959" y="413626"/>
                    <a:pt x="15216" y="403884"/>
                  </a:cubicBezTo>
                  <a:cubicBezTo>
                    <a:pt x="5473" y="394141"/>
                    <a:pt x="0" y="380927"/>
                    <a:pt x="0" y="367148"/>
                  </a:cubicBezTo>
                  <a:lnTo>
                    <a:pt x="0" y="51952"/>
                  </a:lnTo>
                  <a:cubicBezTo>
                    <a:pt x="0" y="38173"/>
                    <a:pt x="5473" y="24959"/>
                    <a:pt x="15216" y="15216"/>
                  </a:cubicBezTo>
                  <a:cubicBezTo>
                    <a:pt x="24959" y="5473"/>
                    <a:pt x="38173" y="0"/>
                    <a:pt x="51952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9" name="TextBox 29"/>
            <p:cNvSpPr txBox="1"/>
            <p:nvPr/>
          </p:nvSpPr>
          <p:spPr>
            <a:xfrm>
              <a:off x="0" y="-19050"/>
              <a:ext cx="635000" cy="4381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  <a:endParaRPr/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5596042" y="5809164"/>
            <a:ext cx="2910569" cy="1920976"/>
            <a:chOff x="0" y="0"/>
            <a:chExt cx="635000" cy="41910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635000" cy="419100"/>
            </a:xfrm>
            <a:custGeom>
              <a:avLst/>
              <a:gdLst/>
              <a:ahLst/>
              <a:cxnLst/>
              <a:rect l="l" t="t" r="r" b="b"/>
              <a:pathLst>
                <a:path w="635000" h="419100">
                  <a:moveTo>
                    <a:pt x="51952" y="0"/>
                  </a:moveTo>
                  <a:lnTo>
                    <a:pt x="583048" y="0"/>
                  </a:lnTo>
                  <a:cubicBezTo>
                    <a:pt x="596827" y="0"/>
                    <a:pt x="610041" y="5473"/>
                    <a:pt x="619784" y="15216"/>
                  </a:cubicBezTo>
                  <a:cubicBezTo>
                    <a:pt x="629526" y="24959"/>
                    <a:pt x="635000" y="38173"/>
                    <a:pt x="635000" y="51952"/>
                  </a:cubicBezTo>
                  <a:lnTo>
                    <a:pt x="635000" y="367148"/>
                  </a:lnTo>
                  <a:cubicBezTo>
                    <a:pt x="635000" y="380927"/>
                    <a:pt x="629526" y="394141"/>
                    <a:pt x="619784" y="403884"/>
                  </a:cubicBezTo>
                  <a:cubicBezTo>
                    <a:pt x="610041" y="413626"/>
                    <a:pt x="596827" y="419100"/>
                    <a:pt x="583048" y="419100"/>
                  </a:cubicBezTo>
                  <a:lnTo>
                    <a:pt x="51952" y="419100"/>
                  </a:lnTo>
                  <a:cubicBezTo>
                    <a:pt x="38173" y="419100"/>
                    <a:pt x="24959" y="413626"/>
                    <a:pt x="15216" y="403884"/>
                  </a:cubicBezTo>
                  <a:cubicBezTo>
                    <a:pt x="5473" y="394141"/>
                    <a:pt x="0" y="380927"/>
                    <a:pt x="0" y="367148"/>
                  </a:cubicBezTo>
                  <a:lnTo>
                    <a:pt x="0" y="51952"/>
                  </a:lnTo>
                  <a:cubicBezTo>
                    <a:pt x="0" y="38173"/>
                    <a:pt x="5473" y="24959"/>
                    <a:pt x="15216" y="15216"/>
                  </a:cubicBezTo>
                  <a:cubicBezTo>
                    <a:pt x="24959" y="5473"/>
                    <a:pt x="38173" y="0"/>
                    <a:pt x="51952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2" name="TextBox 32"/>
            <p:cNvSpPr txBox="1"/>
            <p:nvPr/>
          </p:nvSpPr>
          <p:spPr>
            <a:xfrm>
              <a:off x="0" y="-19050"/>
              <a:ext cx="635000" cy="4381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  <a:endParaRPr/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8668793" y="5809164"/>
            <a:ext cx="2910569" cy="1920976"/>
            <a:chOff x="0" y="0"/>
            <a:chExt cx="635000" cy="419100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635000" cy="419100"/>
            </a:xfrm>
            <a:custGeom>
              <a:avLst/>
              <a:gdLst/>
              <a:ahLst/>
              <a:cxnLst/>
              <a:rect l="l" t="t" r="r" b="b"/>
              <a:pathLst>
                <a:path w="635000" h="419100">
                  <a:moveTo>
                    <a:pt x="51952" y="0"/>
                  </a:moveTo>
                  <a:lnTo>
                    <a:pt x="583048" y="0"/>
                  </a:lnTo>
                  <a:cubicBezTo>
                    <a:pt x="596827" y="0"/>
                    <a:pt x="610041" y="5473"/>
                    <a:pt x="619784" y="15216"/>
                  </a:cubicBezTo>
                  <a:cubicBezTo>
                    <a:pt x="629526" y="24959"/>
                    <a:pt x="635000" y="38173"/>
                    <a:pt x="635000" y="51952"/>
                  </a:cubicBezTo>
                  <a:lnTo>
                    <a:pt x="635000" y="367148"/>
                  </a:lnTo>
                  <a:cubicBezTo>
                    <a:pt x="635000" y="380927"/>
                    <a:pt x="629526" y="394141"/>
                    <a:pt x="619784" y="403884"/>
                  </a:cubicBezTo>
                  <a:cubicBezTo>
                    <a:pt x="610041" y="413626"/>
                    <a:pt x="596827" y="419100"/>
                    <a:pt x="583048" y="419100"/>
                  </a:cubicBezTo>
                  <a:lnTo>
                    <a:pt x="51952" y="419100"/>
                  </a:lnTo>
                  <a:cubicBezTo>
                    <a:pt x="38173" y="419100"/>
                    <a:pt x="24959" y="413626"/>
                    <a:pt x="15216" y="403884"/>
                  </a:cubicBezTo>
                  <a:cubicBezTo>
                    <a:pt x="5473" y="394141"/>
                    <a:pt x="0" y="380927"/>
                    <a:pt x="0" y="367148"/>
                  </a:cubicBezTo>
                  <a:lnTo>
                    <a:pt x="0" y="51952"/>
                  </a:lnTo>
                  <a:cubicBezTo>
                    <a:pt x="0" y="38173"/>
                    <a:pt x="5473" y="24959"/>
                    <a:pt x="15216" y="15216"/>
                  </a:cubicBezTo>
                  <a:cubicBezTo>
                    <a:pt x="24959" y="5473"/>
                    <a:pt x="38173" y="0"/>
                    <a:pt x="51952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5" name="TextBox 35"/>
            <p:cNvSpPr txBox="1"/>
            <p:nvPr/>
          </p:nvSpPr>
          <p:spPr>
            <a:xfrm>
              <a:off x="0" y="-19050"/>
              <a:ext cx="635000" cy="4381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  <a:endParaRPr/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649248" y="5475220"/>
            <a:ext cx="4713230" cy="3690934"/>
            <a:chOff x="0" y="0"/>
            <a:chExt cx="725709" cy="568303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725709" cy="568303"/>
            </a:xfrm>
            <a:custGeom>
              <a:avLst/>
              <a:gdLst/>
              <a:ahLst/>
              <a:cxnLst/>
              <a:rect l="l" t="t" r="r" b="b"/>
              <a:pathLst>
                <a:path w="725709" h="568303">
                  <a:moveTo>
                    <a:pt x="32082" y="0"/>
                  </a:moveTo>
                  <a:lnTo>
                    <a:pt x="693627" y="0"/>
                  </a:lnTo>
                  <a:cubicBezTo>
                    <a:pt x="702136" y="0"/>
                    <a:pt x="710296" y="3380"/>
                    <a:pt x="716312" y="9397"/>
                  </a:cubicBezTo>
                  <a:cubicBezTo>
                    <a:pt x="722329" y="15413"/>
                    <a:pt x="725709" y="23573"/>
                    <a:pt x="725709" y="32082"/>
                  </a:cubicBezTo>
                  <a:lnTo>
                    <a:pt x="725709" y="536221"/>
                  </a:lnTo>
                  <a:cubicBezTo>
                    <a:pt x="725709" y="553940"/>
                    <a:pt x="711345" y="568303"/>
                    <a:pt x="693627" y="568303"/>
                  </a:cubicBezTo>
                  <a:lnTo>
                    <a:pt x="32082" y="568303"/>
                  </a:lnTo>
                  <a:cubicBezTo>
                    <a:pt x="14364" y="568303"/>
                    <a:pt x="0" y="553940"/>
                    <a:pt x="0" y="536221"/>
                  </a:cubicBezTo>
                  <a:lnTo>
                    <a:pt x="0" y="32082"/>
                  </a:lnTo>
                  <a:cubicBezTo>
                    <a:pt x="0" y="14364"/>
                    <a:pt x="14364" y="0"/>
                    <a:pt x="32082" y="0"/>
                  </a:cubicBezTo>
                  <a:close/>
                </a:path>
              </a:pathLst>
            </a:custGeom>
            <a:solidFill>
              <a:srgbClr val="C8FF91"/>
            </a:solidFill>
          </p:spPr>
        </p:sp>
        <p:sp>
          <p:nvSpPr>
            <p:cNvPr id="38" name="TextBox 38"/>
            <p:cNvSpPr txBox="1"/>
            <p:nvPr/>
          </p:nvSpPr>
          <p:spPr>
            <a:xfrm>
              <a:off x="0" y="-19050"/>
              <a:ext cx="725709" cy="58735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  <a:endParaRPr/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839357" y="5681127"/>
            <a:ext cx="4334511" cy="3279121"/>
            <a:chOff x="0" y="0"/>
            <a:chExt cx="828262" cy="626592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28262" cy="626592"/>
            </a:xfrm>
            <a:custGeom>
              <a:avLst/>
              <a:gdLst/>
              <a:ahLst/>
              <a:cxnLst/>
              <a:rect l="l" t="t" r="r" b="b"/>
              <a:pathLst>
                <a:path w="828262" h="626592">
                  <a:moveTo>
                    <a:pt x="34885" y="0"/>
                  </a:moveTo>
                  <a:lnTo>
                    <a:pt x="793377" y="0"/>
                  </a:lnTo>
                  <a:cubicBezTo>
                    <a:pt x="812643" y="0"/>
                    <a:pt x="828262" y="15619"/>
                    <a:pt x="828262" y="34885"/>
                  </a:cubicBezTo>
                  <a:lnTo>
                    <a:pt x="828262" y="591707"/>
                  </a:lnTo>
                  <a:cubicBezTo>
                    <a:pt x="828262" y="610973"/>
                    <a:pt x="812643" y="626592"/>
                    <a:pt x="793377" y="626592"/>
                  </a:cubicBezTo>
                  <a:lnTo>
                    <a:pt x="34885" y="626592"/>
                  </a:lnTo>
                  <a:cubicBezTo>
                    <a:pt x="15619" y="626592"/>
                    <a:pt x="0" y="610973"/>
                    <a:pt x="0" y="591707"/>
                  </a:cubicBezTo>
                  <a:lnTo>
                    <a:pt x="0" y="34885"/>
                  </a:lnTo>
                  <a:cubicBezTo>
                    <a:pt x="0" y="15619"/>
                    <a:pt x="15619" y="0"/>
                    <a:pt x="34885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1" name="TextBox 41"/>
            <p:cNvSpPr txBox="1"/>
            <p:nvPr/>
          </p:nvSpPr>
          <p:spPr>
            <a:xfrm>
              <a:off x="0" y="-19050"/>
              <a:ext cx="828262" cy="6456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  <a:endParaRPr/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11929815" y="1980474"/>
            <a:ext cx="5494657" cy="3390285"/>
            <a:chOff x="0" y="0"/>
            <a:chExt cx="1198771" cy="739660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1198771" cy="739660"/>
            </a:xfrm>
            <a:custGeom>
              <a:avLst/>
              <a:gdLst/>
              <a:ahLst/>
              <a:cxnLst/>
              <a:rect l="l" t="t" r="r" b="b"/>
              <a:pathLst>
                <a:path w="1198771" h="739660">
                  <a:moveTo>
                    <a:pt x="27519" y="0"/>
                  </a:moveTo>
                  <a:lnTo>
                    <a:pt x="1171252" y="0"/>
                  </a:lnTo>
                  <a:cubicBezTo>
                    <a:pt x="1186451" y="0"/>
                    <a:pt x="1198771" y="12321"/>
                    <a:pt x="1198771" y="27519"/>
                  </a:cubicBezTo>
                  <a:lnTo>
                    <a:pt x="1198771" y="712140"/>
                  </a:lnTo>
                  <a:cubicBezTo>
                    <a:pt x="1198771" y="727339"/>
                    <a:pt x="1186451" y="739660"/>
                    <a:pt x="1171252" y="739660"/>
                  </a:cubicBezTo>
                  <a:lnTo>
                    <a:pt x="27519" y="739660"/>
                  </a:lnTo>
                  <a:cubicBezTo>
                    <a:pt x="12321" y="739660"/>
                    <a:pt x="0" y="727339"/>
                    <a:pt x="0" y="712140"/>
                  </a:cubicBezTo>
                  <a:lnTo>
                    <a:pt x="0" y="27519"/>
                  </a:lnTo>
                  <a:cubicBezTo>
                    <a:pt x="0" y="12321"/>
                    <a:pt x="12321" y="0"/>
                    <a:pt x="2751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4" name="TextBox 44"/>
            <p:cNvSpPr txBox="1"/>
            <p:nvPr/>
          </p:nvSpPr>
          <p:spPr>
            <a:xfrm>
              <a:off x="0" y="-19050"/>
              <a:ext cx="1198771" cy="7587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  <a:endParaRPr/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475612" y="1811222"/>
            <a:ext cx="4886866" cy="3492548"/>
            <a:chOff x="0" y="0"/>
            <a:chExt cx="752444" cy="537757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752444" cy="537757"/>
            </a:xfrm>
            <a:custGeom>
              <a:avLst/>
              <a:gdLst/>
              <a:ahLst/>
              <a:cxnLst/>
              <a:rect l="l" t="t" r="r" b="b"/>
              <a:pathLst>
                <a:path w="752444" h="537757">
                  <a:moveTo>
                    <a:pt x="30942" y="0"/>
                  </a:moveTo>
                  <a:lnTo>
                    <a:pt x="721502" y="0"/>
                  </a:lnTo>
                  <a:cubicBezTo>
                    <a:pt x="738591" y="0"/>
                    <a:pt x="752444" y="13853"/>
                    <a:pt x="752444" y="30942"/>
                  </a:cubicBezTo>
                  <a:lnTo>
                    <a:pt x="752444" y="506815"/>
                  </a:lnTo>
                  <a:cubicBezTo>
                    <a:pt x="752444" y="515022"/>
                    <a:pt x="749184" y="522892"/>
                    <a:pt x="743381" y="528695"/>
                  </a:cubicBezTo>
                  <a:cubicBezTo>
                    <a:pt x="737579" y="534497"/>
                    <a:pt x="729708" y="537757"/>
                    <a:pt x="721502" y="537757"/>
                  </a:cubicBezTo>
                  <a:lnTo>
                    <a:pt x="30942" y="537757"/>
                  </a:lnTo>
                  <a:cubicBezTo>
                    <a:pt x="13853" y="537757"/>
                    <a:pt x="0" y="523904"/>
                    <a:pt x="0" y="506815"/>
                  </a:cubicBezTo>
                  <a:lnTo>
                    <a:pt x="0" y="30942"/>
                  </a:lnTo>
                  <a:cubicBezTo>
                    <a:pt x="0" y="13853"/>
                    <a:pt x="13853" y="0"/>
                    <a:pt x="30942" y="0"/>
                  </a:cubicBezTo>
                  <a:close/>
                </a:path>
              </a:pathLst>
            </a:custGeom>
            <a:solidFill>
              <a:srgbClr val="FFCFCF"/>
            </a:solidFill>
          </p:spPr>
        </p:sp>
        <p:sp>
          <p:nvSpPr>
            <p:cNvPr id="47" name="TextBox 47"/>
            <p:cNvSpPr txBox="1"/>
            <p:nvPr/>
          </p:nvSpPr>
          <p:spPr>
            <a:xfrm>
              <a:off x="0" y="-19050"/>
              <a:ext cx="752444" cy="5568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  <a:endParaRPr/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649248" y="1980474"/>
            <a:ext cx="4478166" cy="3132797"/>
            <a:chOff x="0" y="0"/>
            <a:chExt cx="1083171" cy="757756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1083171" cy="757756"/>
            </a:xfrm>
            <a:custGeom>
              <a:avLst/>
              <a:gdLst/>
              <a:ahLst/>
              <a:cxnLst/>
              <a:rect l="l" t="t" r="r" b="b"/>
              <a:pathLst>
                <a:path w="1083171" h="757756">
                  <a:moveTo>
                    <a:pt x="33766" y="0"/>
                  </a:moveTo>
                  <a:lnTo>
                    <a:pt x="1049405" y="0"/>
                  </a:lnTo>
                  <a:cubicBezTo>
                    <a:pt x="1068054" y="0"/>
                    <a:pt x="1083171" y="15118"/>
                    <a:pt x="1083171" y="33766"/>
                  </a:cubicBezTo>
                  <a:lnTo>
                    <a:pt x="1083171" y="723990"/>
                  </a:lnTo>
                  <a:cubicBezTo>
                    <a:pt x="1083171" y="742638"/>
                    <a:pt x="1068054" y="757756"/>
                    <a:pt x="1049405" y="757756"/>
                  </a:cubicBezTo>
                  <a:lnTo>
                    <a:pt x="33766" y="757756"/>
                  </a:lnTo>
                  <a:cubicBezTo>
                    <a:pt x="15118" y="757756"/>
                    <a:pt x="0" y="742638"/>
                    <a:pt x="0" y="723990"/>
                  </a:cubicBezTo>
                  <a:lnTo>
                    <a:pt x="0" y="33766"/>
                  </a:lnTo>
                  <a:cubicBezTo>
                    <a:pt x="0" y="15118"/>
                    <a:pt x="15118" y="0"/>
                    <a:pt x="33766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0" name="TextBox 50"/>
            <p:cNvSpPr txBox="1"/>
            <p:nvPr/>
          </p:nvSpPr>
          <p:spPr>
            <a:xfrm>
              <a:off x="0" y="-19050"/>
              <a:ext cx="1083171" cy="77680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  <a:endParaRPr/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12046490" y="5597375"/>
            <a:ext cx="4997533" cy="3660925"/>
            <a:chOff x="0" y="0"/>
            <a:chExt cx="769484" cy="563683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769484" cy="563683"/>
            </a:xfrm>
            <a:custGeom>
              <a:avLst/>
              <a:gdLst/>
              <a:ahLst/>
              <a:cxnLst/>
              <a:rect l="l" t="t" r="r" b="b"/>
              <a:pathLst>
                <a:path w="769484" h="563683">
                  <a:moveTo>
                    <a:pt x="30257" y="0"/>
                  </a:moveTo>
                  <a:lnTo>
                    <a:pt x="739227" y="0"/>
                  </a:lnTo>
                  <a:cubicBezTo>
                    <a:pt x="755938" y="0"/>
                    <a:pt x="769484" y="13546"/>
                    <a:pt x="769484" y="30257"/>
                  </a:cubicBezTo>
                  <a:lnTo>
                    <a:pt x="769484" y="533426"/>
                  </a:lnTo>
                  <a:cubicBezTo>
                    <a:pt x="769484" y="550136"/>
                    <a:pt x="755938" y="563683"/>
                    <a:pt x="739227" y="563683"/>
                  </a:cubicBezTo>
                  <a:lnTo>
                    <a:pt x="30257" y="563683"/>
                  </a:lnTo>
                  <a:cubicBezTo>
                    <a:pt x="13546" y="563683"/>
                    <a:pt x="0" y="550136"/>
                    <a:pt x="0" y="533426"/>
                  </a:cubicBezTo>
                  <a:lnTo>
                    <a:pt x="0" y="30257"/>
                  </a:lnTo>
                  <a:cubicBezTo>
                    <a:pt x="0" y="13546"/>
                    <a:pt x="13546" y="0"/>
                    <a:pt x="30257" y="0"/>
                  </a:cubicBezTo>
                  <a:close/>
                </a:path>
              </a:pathLst>
            </a:custGeom>
            <a:solidFill>
              <a:srgbClr val="EDA4FF"/>
            </a:solidFill>
          </p:spPr>
        </p:sp>
        <p:sp>
          <p:nvSpPr>
            <p:cNvPr id="53" name="TextBox 53"/>
            <p:cNvSpPr txBox="1"/>
            <p:nvPr/>
          </p:nvSpPr>
          <p:spPr>
            <a:xfrm>
              <a:off x="0" y="-19050"/>
              <a:ext cx="769484" cy="5827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  <a:endParaRPr/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12234221" y="5728045"/>
            <a:ext cx="4622072" cy="3366204"/>
            <a:chOff x="0" y="0"/>
            <a:chExt cx="977428" cy="711850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977428" cy="711850"/>
            </a:xfrm>
            <a:custGeom>
              <a:avLst/>
              <a:gdLst/>
              <a:ahLst/>
              <a:cxnLst/>
              <a:rect l="l" t="t" r="r" b="b"/>
              <a:pathLst>
                <a:path w="977428" h="711850">
                  <a:moveTo>
                    <a:pt x="32715" y="0"/>
                  </a:moveTo>
                  <a:lnTo>
                    <a:pt x="944713" y="0"/>
                  </a:lnTo>
                  <a:cubicBezTo>
                    <a:pt x="962781" y="0"/>
                    <a:pt x="977428" y="14647"/>
                    <a:pt x="977428" y="32715"/>
                  </a:cubicBezTo>
                  <a:lnTo>
                    <a:pt x="977428" y="679135"/>
                  </a:lnTo>
                  <a:cubicBezTo>
                    <a:pt x="977428" y="697203"/>
                    <a:pt x="962781" y="711850"/>
                    <a:pt x="944713" y="711850"/>
                  </a:cubicBezTo>
                  <a:lnTo>
                    <a:pt x="32715" y="711850"/>
                  </a:lnTo>
                  <a:cubicBezTo>
                    <a:pt x="14647" y="711850"/>
                    <a:pt x="0" y="697203"/>
                    <a:pt x="0" y="679135"/>
                  </a:cubicBezTo>
                  <a:lnTo>
                    <a:pt x="0" y="32715"/>
                  </a:lnTo>
                  <a:cubicBezTo>
                    <a:pt x="0" y="14647"/>
                    <a:pt x="14647" y="0"/>
                    <a:pt x="32715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6" name="TextBox 56"/>
            <p:cNvSpPr txBox="1"/>
            <p:nvPr/>
          </p:nvSpPr>
          <p:spPr>
            <a:xfrm>
              <a:off x="0" y="-19050"/>
              <a:ext cx="977428" cy="73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  <a:endParaRPr/>
            </a:p>
          </p:txBody>
        </p:sp>
      </p:grpSp>
      <p:sp>
        <p:nvSpPr>
          <p:cNvPr id="57" name="Freeform 57"/>
          <p:cNvSpPr/>
          <p:nvPr/>
        </p:nvSpPr>
        <p:spPr>
          <a:xfrm rot="-6218991">
            <a:off x="5483714" y="1991541"/>
            <a:ext cx="2100655" cy="1901093"/>
          </a:xfrm>
          <a:custGeom>
            <a:avLst/>
            <a:gdLst/>
            <a:ahLst/>
            <a:cxnLst/>
            <a:rect l="l" t="t" r="r" b="b"/>
            <a:pathLst>
              <a:path w="2100655" h="1901093">
                <a:moveTo>
                  <a:pt x="0" y="0"/>
                </a:moveTo>
                <a:lnTo>
                  <a:pt x="2100655" y="0"/>
                </a:lnTo>
                <a:lnTo>
                  <a:pt x="2100655" y="1901093"/>
                </a:lnTo>
                <a:lnTo>
                  <a:pt x="0" y="190109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8" name="Freeform 58"/>
          <p:cNvSpPr/>
          <p:nvPr/>
        </p:nvSpPr>
        <p:spPr>
          <a:xfrm rot="-835410">
            <a:off x="8995331" y="2553738"/>
            <a:ext cx="2788576" cy="906287"/>
          </a:xfrm>
          <a:custGeom>
            <a:avLst/>
            <a:gdLst/>
            <a:ahLst/>
            <a:cxnLst/>
            <a:rect l="l" t="t" r="r" b="b"/>
            <a:pathLst>
              <a:path w="2788576" h="906287">
                <a:moveTo>
                  <a:pt x="0" y="0"/>
                </a:moveTo>
                <a:lnTo>
                  <a:pt x="2788576" y="0"/>
                </a:lnTo>
                <a:lnTo>
                  <a:pt x="2788576" y="906287"/>
                </a:lnTo>
                <a:lnTo>
                  <a:pt x="0" y="90628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59" name="Freeform 59"/>
          <p:cNvSpPr/>
          <p:nvPr/>
        </p:nvSpPr>
        <p:spPr>
          <a:xfrm rot="4056810">
            <a:off x="9767711" y="7242645"/>
            <a:ext cx="2004974" cy="1934800"/>
          </a:xfrm>
          <a:custGeom>
            <a:avLst/>
            <a:gdLst/>
            <a:ahLst/>
            <a:cxnLst/>
            <a:rect l="l" t="t" r="r" b="b"/>
            <a:pathLst>
              <a:path w="2004974" h="1934800">
                <a:moveTo>
                  <a:pt x="0" y="0"/>
                </a:moveTo>
                <a:lnTo>
                  <a:pt x="2004974" y="0"/>
                </a:lnTo>
                <a:lnTo>
                  <a:pt x="2004974" y="1934800"/>
                </a:lnTo>
                <a:lnTo>
                  <a:pt x="0" y="193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0" name="Freeform 60"/>
          <p:cNvSpPr/>
          <p:nvPr/>
        </p:nvSpPr>
        <p:spPr>
          <a:xfrm rot="-10592176">
            <a:off x="5530799" y="7470669"/>
            <a:ext cx="2006484" cy="1193858"/>
          </a:xfrm>
          <a:custGeom>
            <a:avLst/>
            <a:gdLst/>
            <a:ahLst/>
            <a:cxnLst/>
            <a:rect l="l" t="t" r="r" b="b"/>
            <a:pathLst>
              <a:path w="2006484" h="1193858">
                <a:moveTo>
                  <a:pt x="0" y="0"/>
                </a:moveTo>
                <a:lnTo>
                  <a:pt x="2006485" y="0"/>
                </a:lnTo>
                <a:lnTo>
                  <a:pt x="2006485" y="1193858"/>
                </a:lnTo>
                <a:lnTo>
                  <a:pt x="0" y="11938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61" name="TextBox 61"/>
          <p:cNvSpPr txBox="1"/>
          <p:nvPr/>
        </p:nvSpPr>
        <p:spPr>
          <a:xfrm>
            <a:off x="11851978" y="1716026"/>
            <a:ext cx="5544713" cy="3524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09"/>
              </a:lnSpc>
            </a:pPr>
            <a:endParaRPr/>
          </a:p>
          <a:p>
            <a:pPr marL="626111" lvl="1" indent="-313055" algn="l">
              <a:lnSpc>
                <a:spcPts val="3480"/>
              </a:lnSpc>
              <a:buFont typeface="Arial"/>
              <a:buChar char="•"/>
            </a:pPr>
            <a:r>
              <a:rPr lang="en-US" sz="29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model shall be trained on india specific data rather than global-basin models.</a:t>
            </a:r>
          </a:p>
          <a:p>
            <a:pPr marL="626111" lvl="1" indent="-313055" algn="l">
              <a:lnSpc>
                <a:spcPts val="3480"/>
              </a:lnSpc>
              <a:buFont typeface="Arial"/>
              <a:buChar char="•"/>
            </a:pPr>
            <a:r>
              <a:rPr lang="en-US" sz="29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Uses pretrained CNN + basin-fine tuning of global cyclone data to bypass data-poor North indian ocean basin.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832866" y="5818120"/>
            <a:ext cx="4244602" cy="3086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26111" lvl="1" indent="-313055" algn="l">
              <a:lnSpc>
                <a:spcPts val="3480"/>
              </a:lnSpc>
              <a:buFont typeface="Arial"/>
              <a:buChar char="•"/>
            </a:pPr>
            <a:r>
              <a:rPr lang="en-US" sz="29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Data-poor north indian basin</a:t>
            </a:r>
          </a:p>
          <a:p>
            <a:pPr marL="626111" lvl="1" indent="-313055" algn="l">
              <a:lnSpc>
                <a:spcPts val="3480"/>
              </a:lnSpc>
              <a:buFont typeface="Arial"/>
              <a:buChar char="•"/>
            </a:pPr>
            <a:r>
              <a:rPr lang="en-US" sz="29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Satellite scan-cycle limits(26-minute full-disk cycle).</a:t>
            </a:r>
          </a:p>
          <a:p>
            <a:pPr marL="626111" lvl="1" indent="-313055" algn="l">
              <a:lnSpc>
                <a:spcPts val="3480"/>
              </a:lnSpc>
              <a:buFont typeface="Arial"/>
              <a:buChar char="•"/>
            </a:pPr>
            <a:r>
              <a:rPr lang="en-US" sz="29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Unverified public ground reports.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722575" y="2198620"/>
            <a:ext cx="4568075" cy="2647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26111" lvl="1" indent="-313055" algn="l">
              <a:lnSpc>
                <a:spcPts val="3480"/>
              </a:lnSpc>
              <a:buFont typeface="Arial"/>
              <a:buChar char="•"/>
            </a:pPr>
            <a:r>
              <a:rPr lang="en-US" sz="29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Transfer Learning (pretrained CNN)</a:t>
            </a:r>
          </a:p>
          <a:p>
            <a:pPr marL="626111" lvl="1" indent="-313055" algn="l">
              <a:lnSpc>
                <a:spcPts val="3480"/>
              </a:lnSpc>
              <a:buFont typeface="Arial"/>
              <a:buChar char="•"/>
            </a:pPr>
            <a:r>
              <a:rPr lang="en-US" sz="29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GRU</a:t>
            </a:r>
          </a:p>
          <a:p>
            <a:pPr algn="l">
              <a:lnSpc>
                <a:spcPts val="3480"/>
              </a:lnSpc>
            </a:pPr>
            <a:r>
              <a:rPr lang="en-US" sz="29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-&gt;Well suited for limited data </a:t>
            </a:r>
          </a:p>
          <a:p>
            <a:pPr algn="l">
              <a:lnSpc>
                <a:spcPts val="3480"/>
              </a:lnSpc>
              <a:spcBef>
                <a:spcPct val="0"/>
              </a:spcBef>
            </a:pPr>
            <a:r>
              <a:rPr lang="en-US" sz="29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-&gt;Data available on INSAT/MOSDAC &amp; IMD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12179840" y="5981625"/>
            <a:ext cx="4622072" cy="3086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26111" lvl="1" indent="-313055" algn="l">
              <a:lnSpc>
                <a:spcPts val="3480"/>
              </a:lnSpc>
              <a:buFont typeface="Arial"/>
              <a:buChar char="•"/>
            </a:pPr>
            <a:r>
              <a:rPr lang="en-US" sz="29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Transfer learning from global cyclone data and basin-fine tuning.</a:t>
            </a:r>
          </a:p>
          <a:p>
            <a:pPr marL="626111" lvl="1" indent="-313055" algn="l">
              <a:lnSpc>
                <a:spcPts val="3480"/>
              </a:lnSpc>
              <a:buFont typeface="Arial"/>
              <a:buChar char="•"/>
            </a:pPr>
            <a:r>
              <a:rPr lang="en-US" sz="29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Cycle-aware ingestion + Automated rapid request</a:t>
            </a:r>
          </a:p>
          <a:p>
            <a:pPr marL="626111" lvl="1" indent="-313055" algn="l">
              <a:lnSpc>
                <a:spcPts val="3480"/>
              </a:lnSpc>
              <a:buFont typeface="Arial"/>
              <a:buChar char="•"/>
            </a:pPr>
            <a:r>
              <a:rPr lang="en-US" sz="29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Reports used as supplementary signals.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6001354" y="4351650"/>
            <a:ext cx="2099944" cy="5849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92"/>
              </a:lnSpc>
              <a:spcBef>
                <a:spcPct val="0"/>
              </a:spcBef>
            </a:pPr>
            <a:r>
              <a:rPr lang="en-US" sz="3743" b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Feasibilty 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9232988" y="4351650"/>
            <a:ext cx="1879154" cy="5849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92"/>
              </a:lnSpc>
              <a:spcBef>
                <a:spcPct val="0"/>
              </a:spcBef>
            </a:pPr>
            <a:r>
              <a:rPr lang="en-US" sz="3743" b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Viability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5853896" y="6473236"/>
            <a:ext cx="2394862" cy="5849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92"/>
              </a:lnSpc>
              <a:spcBef>
                <a:spcPct val="0"/>
              </a:spcBef>
            </a:pPr>
            <a:r>
              <a:rPr lang="en-US" sz="3743" b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Challenges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8926647" y="6473236"/>
            <a:ext cx="2394862" cy="5849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92"/>
              </a:lnSpc>
              <a:spcBef>
                <a:spcPct val="0"/>
              </a:spcBef>
            </a:pPr>
            <a:r>
              <a:rPr lang="en-US" sz="3743" b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Strategies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14400" y="-212868"/>
            <a:ext cx="16459200" cy="1714500"/>
            <a:chOff x="0" y="0"/>
            <a:chExt cx="21945600" cy="228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945600" cy="2286000"/>
            </a:xfrm>
            <a:custGeom>
              <a:avLst/>
              <a:gdLst/>
              <a:ahLst/>
              <a:cxnLst/>
              <a:rect l="l" t="t" r="r" b="b"/>
              <a:pathLst>
                <a:path w="21945600" h="22860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7056" b="-137056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480"/>
                </a:lnSpc>
              </a:pPr>
              <a:r>
                <a:rPr lang="en-US" sz="5400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IMPACT AND BENEFITS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475612" y="359321"/>
            <a:ext cx="1915887" cy="1249101"/>
            <a:chOff x="0" y="0"/>
            <a:chExt cx="2554516" cy="1665468"/>
          </a:xfrm>
        </p:grpSpPr>
        <p:sp>
          <p:nvSpPr>
            <p:cNvPr id="6" name="Freeform 6" descr="Your startup LOGO"/>
            <p:cNvSpPr/>
            <p:nvPr/>
          </p:nvSpPr>
          <p:spPr>
            <a:xfrm>
              <a:off x="0" y="0"/>
              <a:ext cx="2554478" cy="1665481"/>
            </a:xfrm>
            <a:custGeom>
              <a:avLst/>
              <a:gdLst/>
              <a:ahLst/>
              <a:cxnLst/>
              <a:rect l="l" t="t" r="r" b="b"/>
              <a:pathLst>
                <a:path w="2554478" h="1665481">
                  <a:moveTo>
                    <a:pt x="0" y="832740"/>
                  </a:moveTo>
                  <a:cubicBezTo>
                    <a:pt x="0" y="372873"/>
                    <a:pt x="571881" y="0"/>
                    <a:pt x="1277239" y="0"/>
                  </a:cubicBezTo>
                  <a:cubicBezTo>
                    <a:pt x="1982597" y="0"/>
                    <a:pt x="2554478" y="372873"/>
                    <a:pt x="2554478" y="832740"/>
                  </a:cubicBezTo>
                  <a:cubicBezTo>
                    <a:pt x="2554478" y="1292608"/>
                    <a:pt x="1982597" y="1665481"/>
                    <a:pt x="1277239" y="1665481"/>
                  </a:cubicBezTo>
                  <a:cubicBezTo>
                    <a:pt x="571881" y="1665481"/>
                    <a:pt x="0" y="1292608"/>
                    <a:pt x="0" y="83274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2554516" cy="17226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rOYAl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4670129" y="2248"/>
            <a:ext cx="3374774" cy="1593504"/>
            <a:chOff x="0" y="0"/>
            <a:chExt cx="4499699" cy="212467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499737" cy="2124710"/>
            </a:xfrm>
            <a:custGeom>
              <a:avLst/>
              <a:gdLst/>
              <a:ahLst/>
              <a:cxnLst/>
              <a:rect l="l" t="t" r="r" b="b"/>
              <a:pathLst>
                <a:path w="4499737" h="2124710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b="1"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>
            <a:off x="0" y="9532144"/>
            <a:ext cx="18288000" cy="754856"/>
            <a:chOff x="0" y="0"/>
            <a:chExt cx="24384000" cy="1006475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4384000" cy="1006475"/>
            </a:xfrm>
            <a:custGeom>
              <a:avLst/>
              <a:gdLst/>
              <a:ahLst/>
              <a:cxnLst/>
              <a:rect l="l" t="t" r="r" b="b"/>
              <a:pathLst>
                <a:path w="24384000" h="1006475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13106400" y="9534525"/>
            <a:ext cx="4267200" cy="547688"/>
            <a:chOff x="0" y="0"/>
            <a:chExt cx="5689600" cy="73025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5689600" cy="730250"/>
            </a:xfrm>
            <a:custGeom>
              <a:avLst/>
              <a:gdLst/>
              <a:ahLst/>
              <a:cxnLst/>
              <a:rect l="l" t="t" r="r" b="b"/>
              <a:pathLst>
                <a:path w="5689600" h="73025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1813" b="-101813"/>
              </a:stretch>
            </a:blipFill>
          </p:spPr>
        </p:sp>
        <p:sp>
          <p:nvSpPr>
            <p:cNvPr id="14" name="TextBox 14"/>
            <p:cNvSpPr txBox="1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5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6972300" y="9534525"/>
            <a:ext cx="4806001" cy="547688"/>
            <a:chOff x="0" y="0"/>
            <a:chExt cx="6408001" cy="73025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6408000" cy="730250"/>
            </a:xfrm>
            <a:custGeom>
              <a:avLst/>
              <a:gdLst/>
              <a:ahLst/>
              <a:cxnLst/>
              <a:rect l="l" t="t" r="r" b="b"/>
              <a:pathLst>
                <a:path w="6408000" h="73025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0982" b="-120982"/>
              </a:stretch>
            </a:blipFill>
          </p:spPr>
        </p:sp>
        <p:sp>
          <p:nvSpPr>
            <p:cNvPr id="17" name="TextBox 17"/>
            <p:cNvSpPr txBox="1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@SIH Idea submission- Template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813873" y="6759056"/>
            <a:ext cx="8371175" cy="2647504"/>
            <a:chOff x="0" y="0"/>
            <a:chExt cx="1675582" cy="529927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675582" cy="529927"/>
            </a:xfrm>
            <a:custGeom>
              <a:avLst/>
              <a:gdLst/>
              <a:ahLst/>
              <a:cxnLst/>
              <a:rect l="l" t="t" r="r" b="b"/>
              <a:pathLst>
                <a:path w="1675582" h="529927">
                  <a:moveTo>
                    <a:pt x="18063" y="0"/>
                  </a:moveTo>
                  <a:lnTo>
                    <a:pt x="1657519" y="0"/>
                  </a:lnTo>
                  <a:cubicBezTo>
                    <a:pt x="1667495" y="0"/>
                    <a:pt x="1675582" y="8087"/>
                    <a:pt x="1675582" y="18063"/>
                  </a:cubicBezTo>
                  <a:lnTo>
                    <a:pt x="1675582" y="511864"/>
                  </a:lnTo>
                  <a:cubicBezTo>
                    <a:pt x="1675582" y="516654"/>
                    <a:pt x="1673679" y="521249"/>
                    <a:pt x="1670291" y="524636"/>
                  </a:cubicBezTo>
                  <a:cubicBezTo>
                    <a:pt x="1666904" y="528024"/>
                    <a:pt x="1662309" y="529927"/>
                    <a:pt x="1657519" y="529927"/>
                  </a:cubicBezTo>
                  <a:lnTo>
                    <a:pt x="18063" y="529927"/>
                  </a:lnTo>
                  <a:cubicBezTo>
                    <a:pt x="13272" y="529927"/>
                    <a:pt x="8678" y="528024"/>
                    <a:pt x="5291" y="524636"/>
                  </a:cubicBezTo>
                  <a:cubicBezTo>
                    <a:pt x="1903" y="521249"/>
                    <a:pt x="0" y="516654"/>
                    <a:pt x="0" y="511864"/>
                  </a:cubicBezTo>
                  <a:lnTo>
                    <a:pt x="0" y="18063"/>
                  </a:lnTo>
                  <a:cubicBezTo>
                    <a:pt x="0" y="13272"/>
                    <a:pt x="1903" y="8678"/>
                    <a:pt x="5291" y="5291"/>
                  </a:cubicBezTo>
                  <a:cubicBezTo>
                    <a:pt x="8678" y="1903"/>
                    <a:pt x="13272" y="0"/>
                    <a:pt x="18063" y="0"/>
                  </a:cubicBezTo>
                  <a:close/>
                </a:path>
              </a:pathLst>
            </a:custGeom>
            <a:solidFill>
              <a:srgbClr val="C8FF91"/>
            </a:solidFill>
          </p:spPr>
        </p:sp>
        <p:sp>
          <p:nvSpPr>
            <p:cNvPr id="20" name="TextBox 20"/>
            <p:cNvSpPr txBox="1"/>
            <p:nvPr/>
          </p:nvSpPr>
          <p:spPr>
            <a:xfrm>
              <a:off x="0" y="-19050"/>
              <a:ext cx="1675582" cy="5489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  <a:endParaRPr/>
            </a:p>
          </p:txBody>
        </p:sp>
      </p:grpSp>
      <p:sp>
        <p:nvSpPr>
          <p:cNvPr id="21" name="Freeform 21"/>
          <p:cNvSpPr/>
          <p:nvPr/>
        </p:nvSpPr>
        <p:spPr>
          <a:xfrm rot="-5400000">
            <a:off x="7746733" y="4046622"/>
            <a:ext cx="2904169" cy="3319051"/>
          </a:xfrm>
          <a:custGeom>
            <a:avLst/>
            <a:gdLst/>
            <a:ahLst/>
            <a:cxnLst/>
            <a:rect l="l" t="t" r="r" b="b"/>
            <a:pathLst>
              <a:path w="2904169" h="3319051">
                <a:moveTo>
                  <a:pt x="0" y="0"/>
                </a:moveTo>
                <a:lnTo>
                  <a:pt x="2904169" y="0"/>
                </a:lnTo>
                <a:lnTo>
                  <a:pt x="2904169" y="3319050"/>
                </a:lnTo>
                <a:lnTo>
                  <a:pt x="0" y="331905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22" name="Freeform 22"/>
          <p:cNvSpPr/>
          <p:nvPr/>
        </p:nvSpPr>
        <p:spPr>
          <a:xfrm rot="-5400000">
            <a:off x="7648047" y="814711"/>
            <a:ext cx="2995848" cy="3423826"/>
          </a:xfrm>
          <a:custGeom>
            <a:avLst/>
            <a:gdLst/>
            <a:ahLst/>
            <a:cxnLst/>
            <a:rect l="l" t="t" r="r" b="b"/>
            <a:pathLst>
              <a:path w="2995848" h="3423826">
                <a:moveTo>
                  <a:pt x="0" y="0"/>
                </a:moveTo>
                <a:lnTo>
                  <a:pt x="2995847" y="0"/>
                </a:lnTo>
                <a:lnTo>
                  <a:pt x="2995847" y="3423826"/>
                </a:lnTo>
                <a:lnTo>
                  <a:pt x="0" y="342382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23" name="TextBox 23"/>
          <p:cNvSpPr txBox="1"/>
          <p:nvPr/>
        </p:nvSpPr>
        <p:spPr>
          <a:xfrm>
            <a:off x="7816519" y="1359497"/>
            <a:ext cx="2587409" cy="2362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19"/>
              </a:lnSpc>
              <a:spcBef>
                <a:spcPct val="0"/>
              </a:spcBef>
            </a:pPr>
            <a:r>
              <a:rPr lang="en-US" sz="30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Complete and frequently updated picture of a developing cyclone.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7896145" y="5245769"/>
            <a:ext cx="2428157" cy="609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05"/>
              </a:lnSpc>
              <a:spcBef>
                <a:spcPct val="0"/>
              </a:spcBef>
            </a:pPr>
            <a:r>
              <a:rPr lang="en-US" sz="3837" b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BENEFITS</a:t>
            </a:r>
          </a:p>
        </p:txBody>
      </p:sp>
      <p:sp>
        <p:nvSpPr>
          <p:cNvPr id="25" name="Freeform 25"/>
          <p:cNvSpPr/>
          <p:nvPr/>
        </p:nvSpPr>
        <p:spPr>
          <a:xfrm rot="-5400000">
            <a:off x="10493959" y="2353585"/>
            <a:ext cx="2995848" cy="3423826"/>
          </a:xfrm>
          <a:custGeom>
            <a:avLst/>
            <a:gdLst/>
            <a:ahLst/>
            <a:cxnLst/>
            <a:rect l="l" t="t" r="r" b="b"/>
            <a:pathLst>
              <a:path w="2995848" h="3423826">
                <a:moveTo>
                  <a:pt x="0" y="0"/>
                </a:moveTo>
                <a:lnTo>
                  <a:pt x="2995848" y="0"/>
                </a:lnTo>
                <a:lnTo>
                  <a:pt x="2995848" y="3423826"/>
                </a:lnTo>
                <a:lnTo>
                  <a:pt x="0" y="342382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26" name="Freeform 26"/>
          <p:cNvSpPr/>
          <p:nvPr/>
        </p:nvSpPr>
        <p:spPr>
          <a:xfrm rot="-5400000">
            <a:off x="13288211" y="4048580"/>
            <a:ext cx="2414208" cy="2759095"/>
          </a:xfrm>
          <a:custGeom>
            <a:avLst/>
            <a:gdLst/>
            <a:ahLst/>
            <a:cxnLst/>
            <a:rect l="l" t="t" r="r" b="b"/>
            <a:pathLst>
              <a:path w="2414208" h="2759095">
                <a:moveTo>
                  <a:pt x="0" y="0"/>
                </a:moveTo>
                <a:lnTo>
                  <a:pt x="2414209" y="0"/>
                </a:lnTo>
                <a:lnTo>
                  <a:pt x="2414209" y="2759095"/>
                </a:lnTo>
                <a:lnTo>
                  <a:pt x="0" y="275909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27" name="Freeform 27"/>
          <p:cNvSpPr/>
          <p:nvPr/>
        </p:nvSpPr>
        <p:spPr>
          <a:xfrm rot="-5400000">
            <a:off x="13290629" y="1321891"/>
            <a:ext cx="2448046" cy="2797767"/>
          </a:xfrm>
          <a:custGeom>
            <a:avLst/>
            <a:gdLst/>
            <a:ahLst/>
            <a:cxnLst/>
            <a:rect l="l" t="t" r="r" b="b"/>
            <a:pathLst>
              <a:path w="2448046" h="2797767">
                <a:moveTo>
                  <a:pt x="0" y="0"/>
                </a:moveTo>
                <a:lnTo>
                  <a:pt x="2448046" y="0"/>
                </a:lnTo>
                <a:lnTo>
                  <a:pt x="2448046" y="2797768"/>
                </a:lnTo>
                <a:lnTo>
                  <a:pt x="0" y="279776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28" name="Freeform 28"/>
          <p:cNvSpPr/>
          <p:nvPr/>
        </p:nvSpPr>
        <p:spPr>
          <a:xfrm rot="-5400000">
            <a:off x="15598397" y="2687692"/>
            <a:ext cx="2414208" cy="2759095"/>
          </a:xfrm>
          <a:custGeom>
            <a:avLst/>
            <a:gdLst/>
            <a:ahLst/>
            <a:cxnLst/>
            <a:rect l="l" t="t" r="r" b="b"/>
            <a:pathLst>
              <a:path w="2414208" h="2759095">
                <a:moveTo>
                  <a:pt x="0" y="0"/>
                </a:moveTo>
                <a:lnTo>
                  <a:pt x="2414208" y="0"/>
                </a:lnTo>
                <a:lnTo>
                  <a:pt x="2414208" y="2759095"/>
                </a:lnTo>
                <a:lnTo>
                  <a:pt x="0" y="275909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29" name="Freeform 29"/>
          <p:cNvSpPr/>
          <p:nvPr/>
        </p:nvSpPr>
        <p:spPr>
          <a:xfrm rot="-5400000">
            <a:off x="4888952" y="2426457"/>
            <a:ext cx="2995848" cy="3423826"/>
          </a:xfrm>
          <a:custGeom>
            <a:avLst/>
            <a:gdLst/>
            <a:ahLst/>
            <a:cxnLst/>
            <a:rect l="l" t="t" r="r" b="b"/>
            <a:pathLst>
              <a:path w="2995848" h="3423826">
                <a:moveTo>
                  <a:pt x="0" y="0"/>
                </a:moveTo>
                <a:lnTo>
                  <a:pt x="2995847" y="0"/>
                </a:lnTo>
                <a:lnTo>
                  <a:pt x="2995847" y="3423826"/>
                </a:lnTo>
                <a:lnTo>
                  <a:pt x="0" y="342382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30" name="Freeform 30"/>
          <p:cNvSpPr/>
          <p:nvPr/>
        </p:nvSpPr>
        <p:spPr>
          <a:xfrm rot="-5400000">
            <a:off x="2572412" y="4258840"/>
            <a:ext cx="2532787" cy="2894614"/>
          </a:xfrm>
          <a:custGeom>
            <a:avLst/>
            <a:gdLst/>
            <a:ahLst/>
            <a:cxnLst/>
            <a:rect l="l" t="t" r="r" b="b"/>
            <a:pathLst>
              <a:path w="2532787" h="2894614">
                <a:moveTo>
                  <a:pt x="0" y="0"/>
                </a:moveTo>
                <a:lnTo>
                  <a:pt x="2532788" y="0"/>
                </a:lnTo>
                <a:lnTo>
                  <a:pt x="2532788" y="2894614"/>
                </a:lnTo>
                <a:lnTo>
                  <a:pt x="0" y="289461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31" name="Freeform 31"/>
          <p:cNvSpPr/>
          <p:nvPr/>
        </p:nvSpPr>
        <p:spPr>
          <a:xfrm rot="-5400000">
            <a:off x="2504074" y="1354840"/>
            <a:ext cx="2529948" cy="2891369"/>
          </a:xfrm>
          <a:custGeom>
            <a:avLst/>
            <a:gdLst/>
            <a:ahLst/>
            <a:cxnLst/>
            <a:rect l="l" t="t" r="r" b="b"/>
            <a:pathLst>
              <a:path w="2529948" h="2891369">
                <a:moveTo>
                  <a:pt x="0" y="0"/>
                </a:moveTo>
                <a:lnTo>
                  <a:pt x="2529948" y="0"/>
                </a:lnTo>
                <a:lnTo>
                  <a:pt x="2529948" y="2891369"/>
                </a:lnTo>
                <a:lnTo>
                  <a:pt x="0" y="289136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32" name="Freeform 32"/>
          <p:cNvSpPr/>
          <p:nvPr/>
        </p:nvSpPr>
        <p:spPr>
          <a:xfrm rot="-5400000">
            <a:off x="362092" y="2937478"/>
            <a:ext cx="2414208" cy="2759095"/>
          </a:xfrm>
          <a:custGeom>
            <a:avLst/>
            <a:gdLst/>
            <a:ahLst/>
            <a:cxnLst/>
            <a:rect l="l" t="t" r="r" b="b"/>
            <a:pathLst>
              <a:path w="2414208" h="2759095">
                <a:moveTo>
                  <a:pt x="0" y="0"/>
                </a:moveTo>
                <a:lnTo>
                  <a:pt x="2414208" y="0"/>
                </a:lnTo>
                <a:lnTo>
                  <a:pt x="2414208" y="2759095"/>
                </a:lnTo>
                <a:lnTo>
                  <a:pt x="0" y="275909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33" name="Freeform 33"/>
          <p:cNvSpPr/>
          <p:nvPr/>
        </p:nvSpPr>
        <p:spPr>
          <a:xfrm rot="-5400000">
            <a:off x="5026455" y="5655692"/>
            <a:ext cx="2795480" cy="3194835"/>
          </a:xfrm>
          <a:custGeom>
            <a:avLst/>
            <a:gdLst/>
            <a:ahLst/>
            <a:cxnLst/>
            <a:rect l="l" t="t" r="r" b="b"/>
            <a:pathLst>
              <a:path w="2795480" h="3194835">
                <a:moveTo>
                  <a:pt x="0" y="0"/>
                </a:moveTo>
                <a:lnTo>
                  <a:pt x="2795481" y="0"/>
                </a:lnTo>
                <a:lnTo>
                  <a:pt x="2795481" y="3194834"/>
                </a:lnTo>
                <a:lnTo>
                  <a:pt x="0" y="319483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34" name="TextBox 34"/>
          <p:cNvSpPr txBox="1"/>
          <p:nvPr/>
        </p:nvSpPr>
        <p:spPr>
          <a:xfrm>
            <a:off x="10857883" y="3702647"/>
            <a:ext cx="2355681" cy="1352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282"/>
              </a:lnSpc>
              <a:spcBef>
                <a:spcPct val="0"/>
              </a:spcBef>
            </a:pPr>
            <a:r>
              <a:rPr lang="en-US" sz="4402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Priorities </a:t>
            </a:r>
          </a:p>
          <a:p>
            <a:pPr algn="l">
              <a:lnSpc>
                <a:spcPts val="5282"/>
              </a:lnSpc>
              <a:spcBef>
                <a:spcPct val="0"/>
              </a:spcBef>
            </a:pPr>
            <a:endParaRPr lang="en-US" sz="4402" b="1">
              <a:solidFill>
                <a:srgbClr val="0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  <p:sp>
        <p:nvSpPr>
          <p:cNvPr id="35" name="TextBox 35"/>
          <p:cNvSpPr txBox="1"/>
          <p:nvPr/>
        </p:nvSpPr>
        <p:spPr>
          <a:xfrm>
            <a:off x="4763491" y="3386631"/>
            <a:ext cx="3244818" cy="1504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7"/>
              </a:lnSpc>
            </a:pPr>
            <a:r>
              <a:rPr lang="en-US" sz="3264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The system  answers questions like: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3070604" y="1678421"/>
            <a:ext cx="2800014" cy="1895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20"/>
              </a:lnSpc>
              <a:spcBef>
                <a:spcPct val="0"/>
              </a:spcBef>
            </a:pPr>
            <a:r>
              <a:rPr lang="en-US" sz="3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Immediate evacuation</a:t>
            </a:r>
          </a:p>
          <a:p>
            <a:pPr algn="ctr">
              <a:lnSpc>
                <a:spcPts val="3720"/>
              </a:lnSpc>
              <a:spcBef>
                <a:spcPct val="0"/>
              </a:spcBef>
            </a:pPr>
            <a:r>
              <a:rPr lang="en-US" sz="3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resource deployment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3329008" y="4623265"/>
            <a:ext cx="2324122" cy="1428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20"/>
              </a:lnSpc>
              <a:spcBef>
                <a:spcPct val="0"/>
              </a:spcBef>
            </a:pPr>
            <a:r>
              <a:rPr lang="en-US" sz="3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 </a:t>
            </a:r>
          </a:p>
          <a:p>
            <a:pPr algn="ctr">
              <a:lnSpc>
                <a:spcPts val="3720"/>
              </a:lnSpc>
              <a:spcBef>
                <a:spcPct val="0"/>
              </a:spcBef>
            </a:pPr>
            <a:r>
              <a:rPr lang="en-US" sz="3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emergency</a:t>
            </a:r>
          </a:p>
          <a:p>
            <a:pPr algn="ctr">
              <a:lnSpc>
                <a:spcPts val="3720"/>
              </a:lnSpc>
              <a:spcBef>
                <a:spcPct val="0"/>
              </a:spcBef>
            </a:pPr>
            <a:r>
              <a:rPr lang="en-US" sz="3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resources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6115727" y="3762610"/>
            <a:ext cx="1379547" cy="495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19"/>
              </a:lnSpc>
              <a:spcBef>
                <a:spcPct val="0"/>
              </a:spcBef>
            </a:pPr>
            <a:r>
              <a:rPr lang="en-US" sz="30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Monitor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296794" y="3588363"/>
            <a:ext cx="2651949" cy="1428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20"/>
              </a:lnSpc>
            </a:pPr>
            <a:r>
              <a:rPr lang="en-US" sz="3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Which areas</a:t>
            </a:r>
          </a:p>
          <a:p>
            <a:pPr algn="ctr">
              <a:lnSpc>
                <a:spcPts val="3720"/>
              </a:lnSpc>
            </a:pPr>
            <a:r>
              <a:rPr lang="en-US" sz="3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are likely to be affected?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2608385" y="4907631"/>
            <a:ext cx="2460841" cy="1428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19"/>
              </a:lnSpc>
            </a:pPr>
            <a:r>
              <a:rPr lang="en-US" sz="30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Which areas should receive warnings first?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2541520" y="1605137"/>
            <a:ext cx="2498936" cy="2362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19"/>
              </a:lnSpc>
              <a:spcBef>
                <a:spcPct val="0"/>
              </a:spcBef>
            </a:pPr>
            <a:r>
              <a:rPr lang="en-US" sz="30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Where </a:t>
            </a:r>
          </a:p>
          <a:p>
            <a:pPr algn="ctr">
              <a:lnSpc>
                <a:spcPts val="3719"/>
              </a:lnSpc>
            </a:pPr>
            <a:r>
              <a:rPr lang="en-US" sz="30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should emergency supplies be sent?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5050472" y="6399483"/>
            <a:ext cx="2747446" cy="16882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4"/>
              </a:lnSpc>
            </a:pPr>
            <a:r>
              <a:rPr lang="en-US" sz="279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Which roads or regions may become inaccessible?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9592378" y="6897724"/>
            <a:ext cx="8592671" cy="2362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18"/>
              </a:lnSpc>
            </a:pPr>
            <a:r>
              <a:rPr lang="en-US" sz="2598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IMPACT</a:t>
            </a:r>
          </a:p>
          <a:p>
            <a:pPr marL="561057" lvl="1" indent="-280529" algn="l">
              <a:lnSpc>
                <a:spcPts val="3118"/>
              </a:lnSpc>
              <a:buFont typeface="Arial"/>
              <a:buChar char="•"/>
            </a:pPr>
            <a:r>
              <a:rPr lang="en-US" sz="2598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Proactive Shifts: </a:t>
            </a:r>
            <a:r>
              <a:rPr lang="en-US" sz="259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Reacts to crisis and makes decisions ahead of time.</a:t>
            </a:r>
          </a:p>
          <a:p>
            <a:pPr marL="561057" lvl="1" indent="-280529" algn="l">
              <a:lnSpc>
                <a:spcPts val="3118"/>
              </a:lnSpc>
              <a:buFont typeface="Arial"/>
              <a:buChar char="•"/>
            </a:pPr>
            <a:r>
              <a:rPr lang="en-US" sz="2598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Real-time visibility:</a:t>
            </a:r>
            <a:r>
              <a:rPr lang="en-US" sz="259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Continuous updates on cyclone details.</a:t>
            </a:r>
          </a:p>
          <a:p>
            <a:pPr marL="561057" lvl="1" indent="-280529" algn="l">
              <a:lnSpc>
                <a:spcPts val="3118"/>
              </a:lnSpc>
              <a:buFont typeface="Arial"/>
              <a:buChar char="•"/>
            </a:pPr>
            <a:r>
              <a:rPr lang="en-US" sz="2598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Targeted response: </a:t>
            </a:r>
            <a:r>
              <a:rPr lang="en-US" sz="259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Affected members and resources required.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532144"/>
            <a:ext cx="18288000" cy="754856"/>
            <a:chOff x="0" y="0"/>
            <a:chExt cx="24384000" cy="100647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006475"/>
            </a:xfrm>
            <a:custGeom>
              <a:avLst/>
              <a:gdLst/>
              <a:ahLst/>
              <a:cxnLst/>
              <a:rect l="l" t="t" r="r" b="b"/>
              <a:pathLst>
                <a:path w="24384000" h="1006475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914400" y="566720"/>
            <a:ext cx="16459200" cy="1714500"/>
            <a:chOff x="0" y="0"/>
            <a:chExt cx="21945600" cy="228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45600" cy="2286000"/>
            </a:xfrm>
            <a:custGeom>
              <a:avLst/>
              <a:gdLst/>
              <a:ahLst/>
              <a:cxnLst/>
              <a:rect l="l" t="t" r="r" b="b"/>
              <a:pathLst>
                <a:path w="21945600" h="22860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7056" b="-137056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480"/>
                </a:lnSpc>
              </a:pPr>
              <a:r>
                <a:rPr lang="en-US" sz="5400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RESEARCH  AND REFERENCES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3106400" y="9534525"/>
            <a:ext cx="4267200" cy="547688"/>
            <a:chOff x="0" y="0"/>
            <a:chExt cx="5689600" cy="7302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689600" cy="730250"/>
            </a:xfrm>
            <a:custGeom>
              <a:avLst/>
              <a:gdLst/>
              <a:ahLst/>
              <a:cxnLst/>
              <a:rect l="l" t="t" r="r" b="b"/>
              <a:pathLst>
                <a:path w="5689600" h="73025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1813" b="-101813"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6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972300" y="9534525"/>
            <a:ext cx="4806001" cy="547688"/>
            <a:chOff x="0" y="0"/>
            <a:chExt cx="6408001" cy="73025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408000" cy="730250"/>
            </a:xfrm>
            <a:custGeom>
              <a:avLst/>
              <a:gdLst/>
              <a:ahLst/>
              <a:cxnLst/>
              <a:rect l="l" t="t" r="r" b="b"/>
              <a:pathLst>
                <a:path w="6408000" h="73025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0982" b="-120982"/>
              </a:stretch>
            </a:blipFill>
          </p:spPr>
        </p:sp>
        <p:sp>
          <p:nvSpPr>
            <p:cNvPr id="12" name="TextBox 12"/>
            <p:cNvSpPr txBox="1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@SIH Idea submission- Template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475612" y="359321"/>
            <a:ext cx="1915887" cy="1249101"/>
            <a:chOff x="0" y="0"/>
            <a:chExt cx="2554516" cy="1665468"/>
          </a:xfrm>
        </p:grpSpPr>
        <p:sp>
          <p:nvSpPr>
            <p:cNvPr id="14" name="Freeform 14" descr="Your startup LOGO"/>
            <p:cNvSpPr/>
            <p:nvPr/>
          </p:nvSpPr>
          <p:spPr>
            <a:xfrm>
              <a:off x="0" y="0"/>
              <a:ext cx="2554478" cy="1665481"/>
            </a:xfrm>
            <a:custGeom>
              <a:avLst/>
              <a:gdLst/>
              <a:ahLst/>
              <a:cxnLst/>
              <a:rect l="l" t="t" r="r" b="b"/>
              <a:pathLst>
                <a:path w="2554478" h="1665481">
                  <a:moveTo>
                    <a:pt x="0" y="832740"/>
                  </a:moveTo>
                  <a:cubicBezTo>
                    <a:pt x="0" y="372873"/>
                    <a:pt x="571881" y="0"/>
                    <a:pt x="1277239" y="0"/>
                  </a:cubicBezTo>
                  <a:cubicBezTo>
                    <a:pt x="1982597" y="0"/>
                    <a:pt x="2554478" y="372873"/>
                    <a:pt x="2554478" y="832740"/>
                  </a:cubicBezTo>
                  <a:cubicBezTo>
                    <a:pt x="2554478" y="1292608"/>
                    <a:pt x="1982597" y="1665481"/>
                    <a:pt x="1277239" y="1665481"/>
                  </a:cubicBezTo>
                  <a:cubicBezTo>
                    <a:pt x="571881" y="1665481"/>
                    <a:pt x="0" y="1292608"/>
                    <a:pt x="0" y="83274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0" y="-57150"/>
              <a:ext cx="2554516" cy="17226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rOYAl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4670129" y="2248"/>
            <a:ext cx="3374774" cy="1593504"/>
            <a:chOff x="0" y="0"/>
            <a:chExt cx="4499699" cy="2124672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4499737" cy="2124710"/>
            </a:xfrm>
            <a:custGeom>
              <a:avLst/>
              <a:gdLst/>
              <a:ahLst/>
              <a:cxnLst/>
              <a:rect l="l" t="t" r="r" b="b"/>
              <a:pathLst>
                <a:path w="4499737" h="2124710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b="1"/>
              </a:stretch>
            </a:blipFill>
          </p:spPr>
        </p:sp>
      </p:grpSp>
      <p:sp>
        <p:nvSpPr>
          <p:cNvPr id="18" name="TextBox 18"/>
          <p:cNvSpPr txBox="1"/>
          <p:nvPr/>
        </p:nvSpPr>
        <p:spPr>
          <a:xfrm>
            <a:off x="0" y="2252645"/>
            <a:ext cx="18288000" cy="52710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52"/>
              </a:lnSpc>
            </a:pPr>
            <a:r>
              <a:rPr lang="en-US" sz="3960" spc="130">
                <a:solidFill>
                  <a:srgbClr val="22283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Details/Links of the reference and research work:</a:t>
            </a:r>
          </a:p>
          <a:p>
            <a:pPr algn="l">
              <a:lnSpc>
                <a:spcPts val="4752"/>
              </a:lnSpc>
            </a:pPr>
            <a:endParaRPr lang="en-US" sz="3960" spc="130">
              <a:solidFill>
                <a:srgbClr val="22283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22555" lvl="1" indent="-361278" algn="l">
              <a:lnSpc>
                <a:spcPts val="4016"/>
              </a:lnSpc>
              <a:buFont typeface="Arial"/>
              <a:buChar char="•"/>
            </a:pPr>
            <a:r>
              <a:rPr lang="en-US" sz="3346" spc="110">
                <a:solidFill>
                  <a:srgbClr val="22283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Dvorak,v.(1975)-Technique for estimating tropical cyclone intensity from satellite imagery (NOAA).</a:t>
            </a:r>
          </a:p>
          <a:p>
            <a:pPr marL="722555" lvl="1" indent="-361278" algn="l">
              <a:lnSpc>
                <a:spcPts val="4016"/>
              </a:lnSpc>
              <a:buFont typeface="Arial"/>
              <a:buChar char="•"/>
            </a:pPr>
            <a:r>
              <a:rPr lang="en-US" sz="3346" spc="110">
                <a:solidFill>
                  <a:srgbClr val="22283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IMD/RSMC New Delhi-Best Track data and annual cyclone reports(rsmcnewdelhi.imd.gov.in).</a:t>
            </a:r>
          </a:p>
          <a:p>
            <a:pPr marL="722555" lvl="1" indent="-361278" algn="l">
              <a:lnSpc>
                <a:spcPts val="4016"/>
              </a:lnSpc>
              <a:buFont typeface="Arial"/>
              <a:buChar char="•"/>
            </a:pPr>
            <a:r>
              <a:rPr lang="en-US" sz="3346" spc="110">
                <a:solidFill>
                  <a:srgbClr val="22283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MOSDAC(ISRO)-INSAT-3D/3DR satellite imagery portal(mosaic.gov.in).</a:t>
            </a:r>
          </a:p>
          <a:p>
            <a:pPr marL="722555" lvl="1" indent="-361278" algn="l">
              <a:lnSpc>
                <a:spcPts val="4016"/>
              </a:lnSpc>
              <a:buFont typeface="Arial"/>
              <a:buChar char="•"/>
            </a:pPr>
            <a:r>
              <a:rPr lang="en-US" sz="3346" spc="110">
                <a:solidFill>
                  <a:srgbClr val="22283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ITBTrACS-International Best Archive for Climatic Stewardship (NOAA NCEI).</a:t>
            </a:r>
          </a:p>
          <a:p>
            <a:pPr marL="722555" lvl="1" indent="-361278" algn="l">
              <a:lnSpc>
                <a:spcPts val="4016"/>
              </a:lnSpc>
              <a:buFont typeface="Arial"/>
              <a:buChar char="•"/>
            </a:pPr>
            <a:r>
              <a:rPr lang="en-US" sz="3346" spc="110">
                <a:solidFill>
                  <a:srgbClr val="22283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Research : CNN-LSTM/GRU based tropical cyclone track and intensity prediction studies (IEEE/Springer,2020-2024).</a:t>
            </a:r>
          </a:p>
          <a:p>
            <a:pPr marL="722555" lvl="1" indent="-361278" algn="l">
              <a:lnSpc>
                <a:spcPts val="4016"/>
              </a:lnSpc>
              <a:spcBef>
                <a:spcPct val="0"/>
              </a:spcBef>
              <a:buFont typeface="Arial"/>
              <a:buChar char="•"/>
            </a:pPr>
            <a:r>
              <a:rPr lang="en-US" sz="3346" spc="110">
                <a:solidFill>
                  <a:srgbClr val="22283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NDMA-Cyclone do’s and don’ts guidelines(ndma.gov.in).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681</Words>
  <Application>Microsoft Office PowerPoint</Application>
  <PresentationFormat>Custom</PresentationFormat>
  <Paragraphs>143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Arial</vt:lpstr>
      <vt:lpstr>Times New Roman</vt:lpstr>
      <vt:lpstr>Calibri (MS)</vt:lpstr>
      <vt:lpstr>Calibri</vt:lpstr>
      <vt:lpstr>Times New Roman Bold</vt:lpstr>
      <vt:lpstr>Garamond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SIH2026-IDEA-Presentation-Format.pptx</dc:title>
  <cp:lastModifiedBy>Pranav Potharaju</cp:lastModifiedBy>
  <cp:revision>2</cp:revision>
  <dcterms:created xsi:type="dcterms:W3CDTF">2006-08-16T00:00:00Z</dcterms:created>
  <dcterms:modified xsi:type="dcterms:W3CDTF">2026-09-11T13:59:11Z</dcterms:modified>
  <dc:identifier>DAHUD2QAF0E</dc:identifier>
</cp:coreProperties>
</file>